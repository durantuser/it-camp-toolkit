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546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9" autoAdjust="0"/>
    <p:restoredTop sz="94660"/>
  </p:normalViewPr>
  <p:slideViewPr>
    <p:cSldViewPr snapToGrid="0">
      <p:cViewPr varScale="1">
        <p:scale>
          <a:sx n="95" d="100"/>
          <a:sy n="95" d="100"/>
        </p:scale>
        <p:origin x="88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11544-71B2-416C-B689-04B72D309C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828EF-56DB-4464-9F4D-9C2A799A2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4A8CA-2D9C-4FB2-9263-409B9AB27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D6A47-3DE9-4EDF-BE08-8EF5AA24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450E4-D45E-4FB5-B191-9A5F316BC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70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3DFD-043F-4D04-B655-4BA1071B5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106AE-A432-44B6-A0B0-F8A799AF2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A552DE-3E79-4A69-9B0F-BC953DBAE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10388-2819-40E0-9482-6348AC4C5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E0835-4F26-4B1B-AF25-7EC60AD83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548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40741-B901-45E0-BA47-E900654F6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7A928-4BD0-437C-B595-CBE0B7608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93FD4-809D-422E-B525-0EA2AC643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2E817-FA38-4891-919B-07E359253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697E3-92F0-4AE2-B9B2-D638247BC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903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B1CCF-CC4C-4B48-BD96-9F78F74DB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151E2-9E92-4702-BFFB-9E0B0D30A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DD3A2-4619-464C-A37D-0253C19A18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13D52B-F295-4911-B74D-4C8B8D07E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A91742-5A5C-4604-8368-BC4C6DD44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776A-0ED7-416A-9298-620B79744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83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81B79-64D9-4EC1-8E97-2E3266A0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DCBD95-0DAA-4CDB-90CB-E6AB5A17E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44190-E01D-4DC8-AD7D-67749F162D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A9863-A3FD-43C4-99F7-718FB7917D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546434-A4F7-4257-8E12-079BC68797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9D3F73-BEEE-4B6A-A9A1-C21276E9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24538-5EA1-40F8-8DD8-69E867C01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7FCBF-AA4F-43C4-852F-F282A8D6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049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97A62-E6AA-4DA0-A319-B9253F9A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D49B64-FB0A-4035-8DAA-0001B3BE6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DC0B9-4470-43C2-BEA9-9C96A812B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1724C-C357-4E70-8096-7E96189D2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860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AE30E-C6F9-4FB8-B276-4ACDAC7C5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356A9-285A-4094-BE00-4F3ECCFBD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E2BF4-A8A4-42D2-B3F8-45804A7D8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497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91EE-4C64-43F6-A40D-D2A41279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0C13E-EC73-4BF0-893E-4CD25A1F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3504DB-DFBB-4714-9B5A-B7DA0CC28F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37AF3-019C-4E11-B844-0B0DCDB19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F2C511-1BBB-4C43-853F-2346DD70E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71F2E-E306-4BC7-9F51-7C302D18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15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BB7E1-3E18-4130-8101-BD689BBE1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EACD1-79C3-4787-923A-EC56075040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CF84F-FBF0-4829-B8F2-9BE1B9505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A2AB4-5122-4AEA-A2CB-40C5428FB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5F6613-A683-453D-BFA1-59FA6E91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36B01E-D146-4A38-AF47-5CA01570C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7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0DFB-2650-4317-A688-006103DB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6929EB-A546-4DA7-A0E7-17B05B439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28D06D-0D23-439E-A8D7-B5D4D54C0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A70DDD-84B5-49B1-8855-DE6EA758A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916BC-C26B-492A-9ADA-B7840313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9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004FE8-38A4-441E-A51B-D3AF511A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0EA8D-FF77-4021-A8DB-A00F87F4F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22389-5464-4B11-988A-47EAF02F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DAD0A-83D3-4A1F-96AE-BF8542EB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B406D1-A110-4DE9-889A-886E240D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204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BDE87-D5EF-48A4-8C8B-C91BB0777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4F3CD-6E29-45AC-8579-A7C9E498A6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3C56D-3C0A-45C6-98E1-E3741EE495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B60AD-FA80-457D-9F37-FAA3CF8B5CC1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AF3FD-506B-4B7C-A4FC-12F7DAB82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6DA3E-5304-4D79-9609-615DB04F8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2EA12-03D8-4FFC-B4F9-C025FF6871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216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A4993F-1943-4FE7-87FF-B1531EDBEDD2}"/>
              </a:ext>
            </a:extLst>
          </p:cNvPr>
          <p:cNvGraphicFramePr>
            <a:graphicFrameLocks noGrp="1"/>
          </p:cNvGraphicFramePr>
          <p:nvPr/>
        </p:nvGraphicFramePr>
        <p:xfrm>
          <a:off x="167685" y="186611"/>
          <a:ext cx="3832285" cy="6484777"/>
        </p:xfrm>
        <a:graphic>
          <a:graphicData uri="http://schemas.openxmlformats.org/drawingml/2006/table">
            <a:tbl>
              <a:tblPr firstRow="1" firstCol="1" bandRow="1"/>
              <a:tblGrid>
                <a:gridCol w="3832285">
                  <a:extLst>
                    <a:ext uri="{9D8B030D-6E8A-4147-A177-3AD203B41FA5}">
                      <a16:colId xmlns:a16="http://schemas.microsoft.com/office/drawing/2014/main" val="958716013"/>
                    </a:ext>
                  </a:extLst>
                </a:gridCol>
              </a:tblGrid>
              <a:tr h="45970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0" lang="en-US" sz="2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uLnTx/>
                          <a:uFillTx/>
                          <a:latin typeface="RobotoSlab-Bold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Workshop Topics: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7234698"/>
                  </a:ext>
                </a:extLst>
              </a:tr>
              <a:tr h="43782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Contents</a:t>
                      </a:r>
                      <a:r>
                        <a:rPr lang="en-US" sz="2400" b="1" baseline="30000" dirty="0">
                          <a:solidFill>
                            <a:srgbClr val="EF7B5D"/>
                          </a:solidFill>
                          <a:effectLst/>
                          <a:latin typeface="Arial" panose="020B0604020202020204" pitchFamily="34" charset="0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*</a:t>
                      </a:r>
                      <a:r>
                        <a:rPr lang="en-US" sz="24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 (IoT)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9562991"/>
                  </a:ext>
                </a:extLst>
              </a:tr>
              <a:tr h="658504">
                <a:tc>
                  <a:txBody>
                    <a:bodyPr/>
                    <a:lstStyle/>
                    <a:p>
                      <a:pPr marL="230188" marR="0" indent="-230188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1</a:t>
                      </a:r>
                      <a:r>
                        <a:rPr lang="en-US" sz="1600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.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Introducing IoT (Internet of Things), Raspberry Pi, and Scratch 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650878"/>
                  </a:ext>
                </a:extLst>
              </a:tr>
              <a:tr h="2814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2. Game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Programming - Scratch 3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0841380"/>
                  </a:ext>
                </a:extLst>
              </a:tr>
              <a:tr h="2954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3</a:t>
                      </a:r>
                      <a:r>
                        <a:rPr lang="en-US" sz="1800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. </a:t>
                      </a:r>
                      <a:r>
                        <a:rPr lang="en-US" sz="18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Exploring Scratch Extensions</a:t>
                      </a:r>
                      <a:endParaRPr lang="en-US" sz="1800" dirty="0">
                        <a:solidFill>
                          <a:srgbClr val="EF7B5D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5352776"/>
                  </a:ext>
                </a:extLst>
              </a:tr>
              <a:tr h="5978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4</a:t>
                      </a:r>
                      <a:r>
                        <a:rPr lang="en-US" sz="1600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.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Getting to Know your Raspberry Pi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Roboto-Regular"/>
                          <a:ea typeface="PMingLiU" panose="02020500000000000000" pitchFamily="18" charset="-120"/>
                          <a:cs typeface="Times New Roman" panose="02020603050405020304" pitchFamily="18" charset="0"/>
                        </a:rPr>
                        <a:t>Take a brief guided tour of your new computer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6098319"/>
                  </a:ext>
                </a:extLst>
              </a:tr>
              <a:tr h="468413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7030A0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5. Virtual IT Field Trip with Q &amp; A</a:t>
                      </a:r>
                      <a:endParaRPr lang="en-US" sz="16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230188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Roboto-Regular"/>
                          <a:ea typeface="PMingLiU" panose="02020500000000000000" pitchFamily="18" charset="-120"/>
                          <a:cs typeface="Roboto-Regular"/>
                        </a:rPr>
                        <a:t>Choctaw Nation – IT Dept., SE - IT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275178"/>
                  </a:ext>
                </a:extLst>
              </a:tr>
              <a:tr h="725648">
                <a:tc>
                  <a:txBody>
                    <a:bodyPr/>
                    <a:lstStyle/>
                    <a:p>
                      <a:pPr marL="230188" marR="0" indent="-230188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7030A0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6. Special Speaker: The IT Professional</a:t>
                      </a:r>
                      <a:endParaRPr lang="en-US" sz="1600" dirty="0">
                        <a:solidFill>
                          <a:srgbClr val="7030A0"/>
                        </a:solidFill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indent="-3175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Roboto-Regular"/>
                          <a:ea typeface="PMingLiU" panose="02020500000000000000" pitchFamily="18" charset="-120"/>
                          <a:cs typeface="Roboto-Regular"/>
                        </a:rPr>
                        <a:t>A day in the life of an IT Professional and Q&amp;A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3819580"/>
                  </a:ext>
                </a:extLst>
              </a:tr>
              <a:tr h="281432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7.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Starting your Raspberry Pi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1411078"/>
                  </a:ext>
                </a:extLst>
              </a:tr>
              <a:tr h="630517">
                <a:tc>
                  <a:txBody>
                    <a:bodyPr/>
                    <a:lstStyle/>
                    <a:p>
                      <a:pPr marL="157480" marR="0" indent="-15748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8.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Hands-on with the Sense HAT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285750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Roboto-Regular"/>
                          <a:ea typeface="PMingLiU" panose="02020500000000000000" pitchFamily="18" charset="-120"/>
                          <a:cs typeface="Roboto-Regular"/>
                        </a:rPr>
                        <a:t>Use the sensors and LED matrix display of this add-on board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09310"/>
                  </a:ext>
                </a:extLst>
              </a:tr>
              <a:tr h="812030">
                <a:tc>
                  <a:txBody>
                    <a:bodyPr/>
                    <a:lstStyle/>
                    <a:p>
                      <a:pPr marL="158750" marR="0" indent="-158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9</a:t>
                      </a:r>
                      <a:r>
                        <a:rPr lang="en-US" sz="1600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. </a:t>
                      </a:r>
                      <a:r>
                        <a:rPr lang="en-US" sz="16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Hands-on IoT Devices with Scratch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marL="230188" marR="0" indent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effectLst/>
                          <a:latin typeface="Roboto-Regular"/>
                          <a:ea typeface="PMingLiU" panose="02020500000000000000" pitchFamily="18" charset="-120"/>
                          <a:cs typeface="Roboto-Regular"/>
                        </a:rPr>
                        <a:t>Use the things: LEDs, Sensors (soil moisture, temperature, humidity, distance, … *), *: depends on the class progress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432910"/>
                  </a:ext>
                </a:extLst>
              </a:tr>
              <a:tr h="29658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EF7B5D"/>
                          </a:solidFill>
                          <a:effectLst/>
                          <a:latin typeface="RobotoSlab-Bold"/>
                          <a:ea typeface="PMingLiU" panose="02020500000000000000" pitchFamily="18" charset="-120"/>
                          <a:cs typeface="RobotoSlab-Bold"/>
                        </a:rPr>
                        <a:t>10. </a:t>
                      </a:r>
                      <a:r>
                        <a:rPr lang="en-US" sz="12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Programming with Python </a:t>
                      </a:r>
                      <a:r>
                        <a:rPr lang="en-US" sz="900" dirty="0">
                          <a:solidFill>
                            <a:srgbClr val="000000"/>
                          </a:solidFill>
                          <a:effectLst/>
                          <a:latin typeface="Roboto-Regular"/>
                          <a:ea typeface="PMingLiU" panose="02020500000000000000" pitchFamily="18" charset="-120"/>
                          <a:cs typeface="Roboto-Regular"/>
                        </a:rPr>
                        <a:t>(will be briefly covered).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3914196"/>
                  </a:ext>
                </a:extLst>
              </a:tr>
              <a:tr h="539288">
                <a:tc>
                  <a:txBody>
                    <a:bodyPr/>
                    <a:lstStyle/>
                    <a:p>
                      <a:pPr marL="285750" marR="0" indent="-28575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EF7B5D"/>
                          </a:solidFill>
                          <a:effectLst/>
                          <a:latin typeface="RobotoSlab-Regular"/>
                          <a:ea typeface="PMingLiU" panose="02020500000000000000" pitchFamily="18" charset="-120"/>
                          <a:cs typeface="RobotoSlab-Regular"/>
                        </a:rPr>
                        <a:t>11. Let’s Stargate the Present and the Future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PMingLiU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027302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78F0917-8771-451E-8942-6AF0CEE4B937}"/>
              </a:ext>
            </a:extLst>
          </p:cNvPr>
          <p:cNvSpPr/>
          <p:nvPr/>
        </p:nvSpPr>
        <p:spPr>
          <a:xfrm>
            <a:off x="4429997" y="1624654"/>
            <a:ext cx="5309915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RobotoSlab-Regular"/>
                <a:ea typeface="PMingLiU" panose="02020500000000000000" pitchFamily="18" charset="-120"/>
                <a:cs typeface="RobotoSlab-Regular"/>
              </a:rPr>
              <a:t>Virtual IT Field Trip with Q &amp; 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RobotoSlab-Regular"/>
                <a:ea typeface="PMingLiU" panose="02020500000000000000" pitchFamily="18" charset="-120"/>
                <a:cs typeface="+mn-cs"/>
              </a:rPr>
              <a:t>&amp;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3258150C-DAFC-4D50-B8AD-8BDB160C7ECC}"/>
              </a:ext>
            </a:extLst>
          </p:cNvPr>
          <p:cNvSpPr/>
          <p:nvPr/>
        </p:nvSpPr>
        <p:spPr>
          <a:xfrm rot="19563527" flipV="1">
            <a:off x="3395354" y="2474219"/>
            <a:ext cx="1260759" cy="362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BE9916B-BB33-4897-8385-F080159C1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707" y="3158170"/>
            <a:ext cx="4627994" cy="14049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95EBB93-02C9-47D2-95F4-9087CDC1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984" y="2496338"/>
            <a:ext cx="5772150" cy="514350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6498ABC9-4F87-44D7-9A5A-4836D3375652}"/>
              </a:ext>
            </a:extLst>
          </p:cNvPr>
          <p:cNvSpPr/>
          <p:nvPr/>
        </p:nvSpPr>
        <p:spPr>
          <a:xfrm rot="21401364">
            <a:off x="3381131" y="3483326"/>
            <a:ext cx="1421628" cy="40616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75975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177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Roboto-Regular</vt:lpstr>
      <vt:lpstr>RobotoSlab-Bold</vt:lpstr>
      <vt:lpstr>RobotoSlab-Regular</vt:lpstr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Ming-Shan Su</dc:creator>
  <cp:lastModifiedBy>Ming-Shan Su</cp:lastModifiedBy>
  <cp:revision>1</cp:revision>
  <cp:lastPrinted>2026-04-24T13:45:05Z</cp:lastPrinted>
  <dcterms:created xsi:type="dcterms:W3CDTF">2026-04-24T13:43:56Z</dcterms:created>
  <dcterms:modified xsi:type="dcterms:W3CDTF">2026-04-24T13:49:30Z</dcterms:modified>
</cp:coreProperties>
</file>