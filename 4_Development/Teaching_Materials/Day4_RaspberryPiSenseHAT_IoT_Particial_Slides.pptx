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8" r:id="rId3"/>
    <p:sldId id="257" r:id="rId4"/>
    <p:sldId id="258" r:id="rId5"/>
    <p:sldId id="300" r:id="rId6"/>
    <p:sldId id="259" r:id="rId7"/>
    <p:sldId id="261" r:id="rId8"/>
    <p:sldId id="260" r:id="rId9"/>
    <p:sldId id="262" r:id="rId10"/>
    <p:sldId id="301" r:id="rId11"/>
    <p:sldId id="310" r:id="rId12"/>
    <p:sldId id="264" r:id="rId13"/>
    <p:sldId id="303" r:id="rId14"/>
    <p:sldId id="293" r:id="rId15"/>
    <p:sldId id="267" r:id="rId16"/>
    <p:sldId id="268" r:id="rId17"/>
    <p:sldId id="289" r:id="rId18"/>
    <p:sldId id="597" r:id="rId19"/>
    <p:sldId id="311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811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3658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4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FB0D93-FFC7-96F0-2C7A-F138A28B3E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1E666B-6B92-8D3A-13F6-0646B031BE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B396C9-CC53-DACF-111B-9C1225FA4C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91CFC-94BA-4870-A77D-B7810B425D43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8228B0-5D63-9762-AEDC-211355C2DA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69DACE-6BA8-C9F5-DE57-3A29DFC4FB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6DA774-9AB4-4B46-AC4E-71AC1BB040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44940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C383E0-D2F7-62CF-4427-B92BB2094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A9B83F-F831-2750-79C9-9C00516583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8A0CAB-8B24-EE05-40A9-8B9F012FEA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91CFC-94BA-4870-A77D-B7810B425D43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144636-9D8F-B140-F715-A298028D14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D6C23A-6A6E-58E6-FB00-3A5AEA3AD4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6DA774-9AB4-4B46-AC4E-71AC1BB040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4276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6811D6-062A-790A-91BF-7C3B609BB6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AF5C38-A3F6-3B7A-BEED-52C18583FD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335447-AF58-CBD7-8832-4696FEBDC1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91CFC-94BA-4870-A77D-B7810B425D43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3D60BC-5B7C-033B-CAB8-F85A88C9E5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E6A13E-0665-0041-B312-D42785F7A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6DA774-9AB4-4B46-AC4E-71AC1BB040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868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A4E7E2-CFD5-6791-C18C-91BE45AADB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6A5278-28F3-474A-28F0-14929F63C0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C51981-BEF2-40F7-0ED3-73B3F887BF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21A1FC-6498-8E14-6ED8-E46AF46C44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91CFC-94BA-4870-A77D-B7810B425D43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F84FC7-00DB-CA0F-D47C-6EDE23F9C2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F0D8AB-8811-8E44-8B36-E487B9F0EE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6DA774-9AB4-4B46-AC4E-71AC1BB040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21219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52AE4-B176-6D29-8F60-0D991664CC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FCD6CB-0D3A-CE81-DF60-B36E1B093E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403AE9-F6E7-B8C3-1694-782E866005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9E93B09-1DB5-797E-BDEB-E0A4782BFF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07544C1-558C-B887-266C-582EA54172A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5D03496-651A-8783-BDDC-C67389854F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91CFC-94BA-4870-A77D-B7810B425D43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A51783D-571D-0252-0518-454A556ED9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D6BB911-55DB-B55A-ADEF-142A57061C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6DA774-9AB4-4B46-AC4E-71AC1BB040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76300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A5A332-DB07-4F5E-5DBB-702F9F1C40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32883EE-FA13-3839-396F-A422343F17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91CFC-94BA-4870-A77D-B7810B425D43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FCF8BA-23B1-CBE1-4A9C-F9649A4880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2128BE-4EFF-AB19-9253-AE01877B3F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6DA774-9AB4-4B46-AC4E-71AC1BB040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96167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9E8D882-EFB1-31BB-E2CE-CA43E8154C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91CFC-94BA-4870-A77D-B7810B425D43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58B3B27-CD1F-A8CD-9D82-04B275BCA6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08824F-DE12-C23F-D1CE-766A5FB1C4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6DA774-9AB4-4B46-AC4E-71AC1BB040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50708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ACE0EF-0EE5-A9E4-DE30-8E1DA86F8E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12DDC8-B5CD-356B-71CF-3ECA6F2962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F9E66D-4106-B4B4-824F-0DB692B89E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A127A1-E329-ECC5-A872-ED7301C69E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91CFC-94BA-4870-A77D-B7810B425D43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3C41EF-5682-A763-C51F-0178A65525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65AA24-8625-337E-FF19-C95F4D915C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6DA774-9AB4-4B46-AC4E-71AC1BB040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09217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7949FB-EB62-DAC4-9CED-D61DEF5DC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5046EFC-B3D3-591F-B15A-FE7CAC64674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02AC4D-5E65-DB1F-5B72-B1019CBC7B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8BD810-E98D-DDD5-05EC-744F55081A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91CFC-94BA-4870-A77D-B7810B425D43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101357-8B7E-4073-7C14-2882A96A65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3678DB-B613-DB2E-F6A9-6AB378B3FC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6DA774-9AB4-4B46-AC4E-71AC1BB040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13752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3DDD7A-5D95-321B-3C8D-3D6B36DEF3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B979C3-714F-EC28-71FD-3790411B88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616DF2-E6B0-9FCA-C7EC-EBF0C7F671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91CFC-94BA-4870-A77D-B7810B425D43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3F0827-3830-8C6F-62EE-4BCBA56EF8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84123D-59A7-D85F-D30E-3F792D38EC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6DA774-9AB4-4B46-AC4E-71AC1BB040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54960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17EC9D7-59D1-4BD6-F348-7558C645D2C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F8F40A-537B-F8F2-B69F-435D9485CB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03E47D-A44D-FA40-47F3-E81B7406BF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91CFC-94BA-4870-A77D-B7810B425D43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6255C4-E3E5-AB57-CD44-67276A46CC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D29E6F-F979-6C56-4475-623C856AE7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6DA774-9AB4-4B46-AC4E-71AC1BB040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18494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7815E67-0C9A-FD74-E525-4B4900BEE8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FFC2FE-C75A-AFC4-943A-8400205BBD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039946-6AB9-F443-A9FE-D96BA2C23B6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C91CFC-94BA-4870-A77D-B7810B425D43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D92DE0-26C8-221C-F897-FB14525888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36B20F-F3F3-8812-A386-B5FC7D62CD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6DA774-9AB4-4B46-AC4E-71AC1BB040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28924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omshardware.com/how-to/raspberry-pi-sense-hat-projects-for-kids" TargetMode="External"/><Relationship Id="rId2" Type="http://schemas.openxmlformats.org/officeDocument/2006/relationships/hyperlink" Target="https://www.tomshardware.com/author/les-pounder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hyperlink" Target="https://youtu.be/B36czuDW-Sg" TargetMode="External"/><Relationship Id="rId2" Type="http://schemas.openxmlformats.org/officeDocument/2006/relationships/hyperlink" Target="https://trinket.io/sense-hat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hyperlink" Target="https://youtu.be/rDA1xkpt7wo" TargetMode="Externa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png"/><Relationship Id="rId4" Type="http://schemas.openxmlformats.org/officeDocument/2006/relationships/image" Target="../media/image3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google.com/search?q=celsius+to+fahrenheit&amp;rlz=1C1GCEU_enUS861US861&amp;oq=celsi&amp;aqs=chrome.0.35i39j69i57j0i131i433i512l2j46i131i199i433i465i512j0i433i512l3j0i131i433l2.3319j0j15&amp;sourceid=chrome&amp;ie=UTF-8" TargetMode="External"/><Relationship Id="rId5" Type="http://schemas.openxmlformats.org/officeDocument/2006/relationships/image" Target="../media/image32.png"/><Relationship Id="rId4" Type="http://schemas.openxmlformats.org/officeDocument/2006/relationships/image" Target="../media/image4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omshardware.com/how-to/raspberry-pi-sense-hat-projects-for-kids" TargetMode="External"/><Relationship Id="rId2" Type="http://schemas.openxmlformats.org/officeDocument/2006/relationships/hyperlink" Target="https://www.tomshardware.com/author/les-pounder" TargetMode="Externa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youtu.be/ovthX9QlVF8?t=7" TargetMode="External"/><Relationship Id="rId4" Type="http://schemas.openxmlformats.org/officeDocument/2006/relationships/image" Target="../media/image44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C46218-3CE0-64BB-BC65-017ED806DD6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b="1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3 Simple Raspberry Pi Sense HAT Projects for Kids and Families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D095FD7-5743-BF9A-7B9A-F121C657DC8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By </a:t>
            </a:r>
            <a:r>
              <a:rPr lang="en-US" b="0" i="0" u="none" strike="noStrike" dirty="0">
                <a:solidFill>
                  <a:srgbClr val="101F9E"/>
                </a:solidFill>
                <a:effectLst/>
                <a:latin typeface="inherit"/>
                <a:hlinkClick r:id="rId2"/>
              </a:rPr>
              <a:t>Les Pounder </a:t>
            </a:r>
            <a:r>
              <a:rPr lang="en-US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published </a:t>
            </a:r>
            <a:r>
              <a:rPr lang="en-US" dirty="0"/>
              <a:t>May 03, 2020</a:t>
            </a:r>
          </a:p>
          <a:p>
            <a:r>
              <a:rPr lang="en-US" dirty="0">
                <a:hlinkClick r:id="rId3"/>
              </a:rPr>
              <a:t>https://www.tomshardware.com/how-to/raspberry-pi-sense-hat-projects-for-kids</a:t>
            </a:r>
            <a:r>
              <a:rPr lang="en-US" dirty="0"/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29D867E-F261-4671-A277-0EF83D25219E}"/>
              </a:ext>
            </a:extLst>
          </p:cNvPr>
          <p:cNvSpPr txBox="1"/>
          <p:nvPr/>
        </p:nvSpPr>
        <p:spPr>
          <a:xfrm>
            <a:off x="4857750" y="5735637"/>
            <a:ext cx="27675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Prepared by: Dr. Your-name</a:t>
            </a:r>
          </a:p>
        </p:txBody>
      </p:sp>
    </p:spTree>
    <p:extLst>
      <p:ext uri="{BB962C8B-B14F-4D97-AF65-F5344CB8AC3E}">
        <p14:creationId xmlns:p14="http://schemas.microsoft.com/office/powerpoint/2010/main" val="25495085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53FDA-0A01-3834-4E0F-EEF4B6EE00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619" y="138079"/>
            <a:ext cx="7861910" cy="1325563"/>
          </a:xfrm>
        </p:spPr>
        <p:txBody>
          <a:bodyPr/>
          <a:lstStyle/>
          <a:p>
            <a:r>
              <a:rPr lang="en-US" dirty="0"/>
              <a:t>The Raspberry Pi Sense HAT extension contains </a:t>
            </a:r>
            <a:r>
              <a:rPr lang="en-US" dirty="0">
                <a:solidFill>
                  <a:srgbClr val="0000FF"/>
                </a:solidFill>
              </a:rPr>
              <a:t>22 blocks</a:t>
            </a:r>
            <a:r>
              <a:rPr lang="en-US" dirty="0"/>
              <a:t>: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73FA2DC-413E-2BFB-10AD-9555354B5D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30147" y="800860"/>
            <a:ext cx="3023542" cy="184070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045EC92-1BC7-0F7A-49A4-8C9158063B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48831" y="3749580"/>
            <a:ext cx="3186174" cy="2876084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A5B94B1-A2EF-D97F-F97C-6B44BC2DD671}"/>
              </a:ext>
            </a:extLst>
          </p:cNvPr>
          <p:cNvSpPr/>
          <p:nvPr/>
        </p:nvSpPr>
        <p:spPr>
          <a:xfrm>
            <a:off x="156995" y="1972297"/>
            <a:ext cx="7940746" cy="474762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Arrow: Right 2">
            <a:extLst>
              <a:ext uri="{FF2B5EF4-FFF2-40B4-BE49-F238E27FC236}">
                <a16:creationId xmlns:a16="http://schemas.microsoft.com/office/drawing/2014/main" id="{B4F1958F-05FD-4D65-8192-D98CE53B5093}"/>
              </a:ext>
            </a:extLst>
          </p:cNvPr>
          <p:cNvSpPr/>
          <p:nvPr/>
        </p:nvSpPr>
        <p:spPr>
          <a:xfrm rot="6157325">
            <a:off x="6473332" y="1463642"/>
            <a:ext cx="609600" cy="34668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5B753FDA-0A01-3834-4E0F-EEF4B6EE009D}"/>
              </a:ext>
            </a:extLst>
          </p:cNvPr>
          <p:cNvSpPr txBox="1">
            <a:spLocks/>
          </p:cNvSpPr>
          <p:nvPr/>
        </p:nvSpPr>
        <p:spPr>
          <a:xfrm>
            <a:off x="8848831" y="236745"/>
            <a:ext cx="2950409" cy="6581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rgbClr val="0000FF"/>
                </a:solidFill>
              </a:rPr>
              <a:t>GPIO: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5B753FDA-0A01-3834-4E0F-EEF4B6EE009D}"/>
              </a:ext>
            </a:extLst>
          </p:cNvPr>
          <p:cNvSpPr txBox="1">
            <a:spLocks/>
          </p:cNvSpPr>
          <p:nvPr/>
        </p:nvSpPr>
        <p:spPr>
          <a:xfrm>
            <a:off x="8760525" y="3091406"/>
            <a:ext cx="2950409" cy="6581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rgbClr val="0000FF"/>
                </a:solidFill>
              </a:rPr>
              <a:t>Electronics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3883" y="2130330"/>
            <a:ext cx="2035892" cy="3867058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92316" y="2164340"/>
            <a:ext cx="2622285" cy="2174578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47726" y="4338918"/>
            <a:ext cx="2287741" cy="2160494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97141" y="2164340"/>
            <a:ext cx="2103955" cy="4335072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071" y="1339985"/>
            <a:ext cx="6236749" cy="755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93707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C7F057-F8B2-0508-9EB9-87A41927E9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855" y="138401"/>
            <a:ext cx="10515600" cy="1325563"/>
          </a:xfrm>
        </p:spPr>
        <p:txBody>
          <a:bodyPr/>
          <a:lstStyle/>
          <a:p>
            <a:r>
              <a:rPr lang="en-US" b="1" dirty="0"/>
              <a:t>Pre-Configuration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84377D-3F39-EA12-F76F-7F6F218A05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855" y="1338984"/>
            <a:ext cx="9682017" cy="537770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Setting Up the Raspberry Pi Sense HAT and Scratch 3 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Attach the </a:t>
            </a:r>
            <a:r>
              <a:rPr lang="en-US" b="1" i="0" dirty="0">
                <a:solidFill>
                  <a:srgbClr val="0000FF"/>
                </a:solidFill>
                <a:effectLst/>
                <a:latin typeface="Open Sans" panose="020B0606030504020204" pitchFamily="34" charset="0"/>
              </a:rPr>
              <a:t>Sense HAT</a:t>
            </a:r>
          </a:p>
          <a:p>
            <a:pPr marL="514350" indent="-514350">
              <a:buFont typeface="+mj-lt"/>
              <a:buAutoNum type="arabicPeriod"/>
            </a:pPr>
            <a:r>
              <a:rPr lang="it-IT" b="1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Enable </a:t>
            </a:r>
            <a:r>
              <a:rPr lang="it-IT" b="1" i="0" dirty="0">
                <a:solidFill>
                  <a:srgbClr val="0000FF"/>
                </a:solidFill>
                <a:effectLst/>
                <a:latin typeface="Open Sans" panose="020B0606030504020204" pitchFamily="34" charset="0"/>
              </a:rPr>
              <a:t>I2C</a:t>
            </a:r>
            <a:r>
              <a:rPr lang="it-IT" b="1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 in raspi-config (optinal)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Install </a:t>
            </a:r>
            <a:r>
              <a:rPr lang="en-US" b="1" i="0" dirty="0">
                <a:solidFill>
                  <a:srgbClr val="0000FF"/>
                </a:solidFill>
                <a:effectLst/>
                <a:latin typeface="Open Sans" panose="020B0606030504020204" pitchFamily="34" charset="0"/>
              </a:rPr>
              <a:t>Scratch 3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Install the </a:t>
            </a:r>
            <a:r>
              <a:rPr lang="en-US" b="1" i="0" dirty="0">
                <a:solidFill>
                  <a:srgbClr val="0000FF"/>
                </a:solidFill>
                <a:effectLst/>
                <a:latin typeface="Open Sans" panose="020B0606030504020204" pitchFamily="34" charset="0"/>
              </a:rPr>
              <a:t>Sense HAT Scratch 3 extension</a:t>
            </a:r>
            <a:endParaRPr lang="en-US" b="1" dirty="0">
              <a:solidFill>
                <a:srgbClr val="0000FF"/>
              </a:solidFill>
              <a:latin typeface="Open Sans" panose="020B0606030504020204" pitchFamily="34" charset="0"/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0000FF"/>
                </a:solidFill>
                <a:latin typeface="Open Sans" panose="020B0606030504020204" pitchFamily="34" charset="0"/>
              </a:rPr>
              <a:t>Note: </a:t>
            </a:r>
          </a:p>
          <a:p>
            <a:pPr marL="514350" indent="-514350">
              <a:buAutoNum type="alphaLcPeriod"/>
            </a:pPr>
            <a:r>
              <a:rPr lang="en-US" dirty="0">
                <a:solidFill>
                  <a:srgbClr val="0000FF"/>
                </a:solidFill>
                <a:latin typeface="Open Sans" panose="020B0606030504020204" pitchFamily="34" charset="0"/>
              </a:rPr>
              <a:t>You </a:t>
            </a:r>
            <a:r>
              <a:rPr lang="en-US" dirty="0">
                <a:solidFill>
                  <a:srgbClr val="C00000"/>
                </a:solidFill>
                <a:latin typeface="Open Sans" panose="020B0606030504020204" pitchFamily="34" charset="0"/>
              </a:rPr>
              <a:t>can only try</a:t>
            </a:r>
            <a:r>
              <a:rPr lang="en-US" dirty="0">
                <a:solidFill>
                  <a:srgbClr val="0000FF"/>
                </a:solidFill>
                <a:latin typeface="Open Sans" panose="020B0606030504020204" pitchFamily="34" charset="0"/>
              </a:rPr>
              <a:t> this project on the </a:t>
            </a:r>
            <a:r>
              <a:rPr lang="en-US" dirty="0">
                <a:solidFill>
                  <a:srgbClr val="C00000"/>
                </a:solidFill>
                <a:latin typeface="Open Sans" panose="020B0606030504020204" pitchFamily="34" charset="0"/>
              </a:rPr>
              <a:t>Raspberry Pi </a:t>
            </a:r>
            <a:r>
              <a:rPr lang="en-US" dirty="0">
                <a:solidFill>
                  <a:srgbClr val="0000FF"/>
                </a:solidFill>
                <a:latin typeface="Open Sans" panose="020B0606030504020204" pitchFamily="34" charset="0"/>
              </a:rPr>
              <a:t>device</a:t>
            </a:r>
          </a:p>
          <a:p>
            <a:pPr marL="514350" indent="-514350">
              <a:buAutoNum type="alphaLcPeriod"/>
            </a:pPr>
            <a:r>
              <a:rPr lang="en-US" dirty="0">
                <a:solidFill>
                  <a:srgbClr val="0000FF"/>
                </a:solidFill>
              </a:rPr>
              <a:t>The </a:t>
            </a:r>
            <a:r>
              <a:rPr lang="en-US" dirty="0">
                <a:solidFill>
                  <a:srgbClr val="C00000"/>
                </a:solidFill>
              </a:rPr>
              <a:t>emulator</a:t>
            </a:r>
            <a:r>
              <a:rPr lang="en-US" dirty="0">
                <a:solidFill>
                  <a:srgbClr val="0000FF"/>
                </a:solidFill>
              </a:rPr>
              <a:t> </a:t>
            </a:r>
          </a:p>
          <a:p>
            <a:pPr marL="971550" lvl="1" indent="-514350">
              <a:buAutoNum type="alphaLcPeriod"/>
            </a:pPr>
            <a:r>
              <a:rPr lang="en-US" dirty="0">
                <a:solidFill>
                  <a:srgbClr val="0000FF"/>
                </a:solidFill>
              </a:rPr>
              <a:t>One on </a:t>
            </a:r>
            <a:r>
              <a:rPr lang="en-US" dirty="0">
                <a:solidFill>
                  <a:srgbClr val="0000FF"/>
                </a:solidFill>
                <a:hlinkClick r:id="rId2"/>
              </a:rPr>
              <a:t>https://trinket.io/sense-hat</a:t>
            </a:r>
            <a:r>
              <a:rPr lang="en-US" dirty="0">
                <a:solidFill>
                  <a:srgbClr val="0000FF"/>
                </a:solidFill>
              </a:rPr>
              <a:t> works </a:t>
            </a:r>
            <a:r>
              <a:rPr lang="en-US" dirty="0">
                <a:solidFill>
                  <a:srgbClr val="C00000"/>
                </a:solidFill>
              </a:rPr>
              <a:t>only with Python</a:t>
            </a:r>
            <a:r>
              <a:rPr lang="en-US" dirty="0">
                <a:solidFill>
                  <a:srgbClr val="0000FF"/>
                </a:solidFill>
              </a:rPr>
              <a:t>, not Scratch</a:t>
            </a:r>
          </a:p>
          <a:p>
            <a:pPr marL="971550" lvl="1" indent="-514350">
              <a:buAutoNum type="alphaLcPeriod"/>
            </a:pPr>
            <a:r>
              <a:rPr lang="en-US" dirty="0">
                <a:solidFill>
                  <a:srgbClr val="0000FF"/>
                </a:solidFill>
              </a:rPr>
              <a:t>Another, </a:t>
            </a:r>
            <a:r>
              <a:rPr lang="en-US" dirty="0">
                <a:solidFill>
                  <a:srgbClr val="FF0000"/>
                </a:solidFill>
              </a:rPr>
              <a:t>Scratch</a:t>
            </a:r>
            <a:r>
              <a:rPr lang="en-US" dirty="0">
                <a:solidFill>
                  <a:srgbClr val="0000FF"/>
                </a:solidFill>
              </a:rPr>
              <a:t> first and add </a:t>
            </a:r>
            <a:r>
              <a:rPr lang="en-US" dirty="0" err="1">
                <a:solidFill>
                  <a:srgbClr val="0000FF"/>
                </a:solidFill>
              </a:rPr>
              <a:t>SenseHat</a:t>
            </a:r>
            <a:r>
              <a:rPr lang="en-US" dirty="0">
                <a:solidFill>
                  <a:srgbClr val="0000FF"/>
                </a:solidFill>
              </a:rPr>
              <a:t>, then Emulator will pop up.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EC5F59E-ED64-8FA8-3C59-4DDD09FB26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7307" y="3365905"/>
            <a:ext cx="1932067" cy="2171511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53F85115-D837-FF5B-A9F4-934302F48DA0}"/>
              </a:ext>
            </a:extLst>
          </p:cNvPr>
          <p:cNvCxnSpPr>
            <a:cxnSpLocks/>
          </p:cNvCxnSpPr>
          <p:nvPr/>
        </p:nvCxnSpPr>
        <p:spPr>
          <a:xfrm flipV="1">
            <a:off x="7136998" y="3277168"/>
            <a:ext cx="735415" cy="121008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E2568906-85B0-3997-C375-21224B573D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43165" y="1692984"/>
            <a:ext cx="2939874" cy="1654816"/>
          </a:xfrm>
          <a:prstGeom prst="rect">
            <a:avLst/>
          </a:prstGeom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48A375D-3294-58DE-20F8-9879339466FD}"/>
              </a:ext>
            </a:extLst>
          </p:cNvPr>
          <p:cNvCxnSpPr/>
          <p:nvPr/>
        </p:nvCxnSpPr>
        <p:spPr>
          <a:xfrm flipV="1">
            <a:off x="2706255" y="4402269"/>
            <a:ext cx="6877016" cy="13699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17CF4352-9632-4141-83E8-F89F493D6CC1}"/>
              </a:ext>
            </a:extLst>
          </p:cNvPr>
          <p:cNvSpPr/>
          <p:nvPr/>
        </p:nvSpPr>
        <p:spPr>
          <a:xfrm>
            <a:off x="4633993" y="105987"/>
            <a:ext cx="678215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rgbClr val="0000FF"/>
                </a:solidFill>
                <a:latin typeface="Calibri" panose="020F0502020204030204" pitchFamily="34" charset="0"/>
                <a:ea typeface="PMingLiU" panose="02020500000000000000"/>
                <a:cs typeface="Times New Roman" panose="02020603050405020304" pitchFamily="18" charset="0"/>
              </a:rPr>
              <a:t>Hands-on physical computing projects</a:t>
            </a:r>
            <a:r>
              <a:rPr lang="en-US" sz="3600" dirty="0">
                <a:solidFill>
                  <a:srgbClr val="0000FF"/>
                </a:solidFill>
                <a:latin typeface="Calibri" panose="020F0502020204030204" pitchFamily="34" charset="0"/>
                <a:ea typeface="PMingLiU" panose="02020500000000000000"/>
                <a:cs typeface="Times New Roman" panose="02020603050405020304" pitchFamily="18" charset="0"/>
              </a:rPr>
              <a:t> </a:t>
            </a:r>
            <a:endParaRPr lang="en-US" sz="3600" dirty="0">
              <a:solidFill>
                <a:srgbClr val="0000FF"/>
              </a:solidFill>
            </a:endParaRPr>
          </a:p>
        </p:txBody>
      </p:sp>
      <p:cxnSp>
        <p:nvCxnSpPr>
          <p:cNvPr id="6" name="Straight Arrow Connector 5"/>
          <p:cNvCxnSpPr>
            <a:cxnSpLocks/>
          </p:cNvCxnSpPr>
          <p:nvPr/>
        </p:nvCxnSpPr>
        <p:spPr>
          <a:xfrm flipV="1">
            <a:off x="4148051" y="720671"/>
            <a:ext cx="2844911" cy="376658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1917006" y="6329055"/>
            <a:ext cx="331885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hlinkClick r:id="rId5"/>
              </a:rPr>
              <a:t>https://youtu.be/rDA1xkpt7wo</a:t>
            </a:r>
            <a:r>
              <a:rPr lang="en-US" sz="1600" dirty="0"/>
              <a:t> [2:51]</a:t>
            </a: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86538" y="5563649"/>
            <a:ext cx="2047834" cy="1188364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5539130" y="6300458"/>
            <a:ext cx="413901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hlinkClick r:id="rId7"/>
              </a:rPr>
              <a:t>https://youtu.be/B36czuDW-Sg</a:t>
            </a:r>
            <a:r>
              <a:rPr lang="en-US" dirty="0"/>
              <a:t> [2:23, my]</a:t>
            </a:r>
          </a:p>
        </p:txBody>
      </p:sp>
    </p:spTree>
    <p:extLst>
      <p:ext uri="{BB962C8B-B14F-4D97-AF65-F5344CB8AC3E}">
        <p14:creationId xmlns:p14="http://schemas.microsoft.com/office/powerpoint/2010/main" val="7795178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814C23-B487-6988-0B9F-CE5C3564C4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854" y="365125"/>
            <a:ext cx="10958946" cy="1325563"/>
          </a:xfrm>
        </p:spPr>
        <p:txBody>
          <a:bodyPr>
            <a:noAutofit/>
          </a:bodyPr>
          <a:lstStyle/>
          <a:p>
            <a:r>
              <a:rPr lang="en-US" sz="3200" b="1" dirty="0">
                <a:solidFill>
                  <a:srgbClr val="0000FF"/>
                </a:solidFill>
                <a:latin typeface="Open Sans" panose="020B0606030504020204" pitchFamily="34" charset="0"/>
              </a:rPr>
              <a:t>P-01</a:t>
            </a:r>
            <a:r>
              <a:rPr lang="en-US" sz="3200" b="1" dirty="0">
                <a:solidFill>
                  <a:srgbClr val="333333"/>
                </a:solidFill>
                <a:latin typeface="Open Sans" panose="020B0606030504020204" pitchFamily="34" charset="0"/>
              </a:rPr>
              <a:t>: </a:t>
            </a:r>
            <a:r>
              <a:rPr lang="en-US" sz="3200" b="1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Scrolling “</a:t>
            </a:r>
            <a:r>
              <a:rPr lang="en-US" sz="3200" b="1" i="0" dirty="0">
                <a:solidFill>
                  <a:srgbClr val="0000FF"/>
                </a:solidFill>
                <a:effectLst/>
                <a:latin typeface="Open Sans" panose="020B0606030504020204" pitchFamily="34" charset="0"/>
              </a:rPr>
              <a:t>Hello World</a:t>
            </a:r>
            <a:r>
              <a:rPr lang="en-US" sz="3200" b="1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” App with Raspberry Pi Sense HAT (step-0 warm-up)</a:t>
            </a: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59CB61-B9EB-FE7C-5DCD-664A6EFA4F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7224" y="1613647"/>
            <a:ext cx="9122267" cy="524435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0.a   connect to the same wireless (or wired) network</a:t>
            </a:r>
          </a:p>
          <a:p>
            <a:pPr marL="0" indent="0">
              <a:buNone/>
            </a:pPr>
            <a:r>
              <a:rPr lang="en-US" sz="2400" b="1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         ping -4 pi0xx    (e.g. pi002, see the label on the side)</a:t>
            </a:r>
          </a:p>
          <a:p>
            <a:pPr marL="0" indent="0">
              <a:buNone/>
            </a:pPr>
            <a:r>
              <a:rPr lang="en-US" sz="2400" b="1" dirty="0">
                <a:solidFill>
                  <a:srgbClr val="333333"/>
                </a:solidFill>
                <a:latin typeface="Open Sans" panose="020B0606030504020204" pitchFamily="34" charset="0"/>
              </a:rPr>
              <a:t>0.b   write down the IP address (e.g., 192.168.0.101)</a:t>
            </a:r>
            <a:endParaRPr lang="en-US" sz="2400" b="1" i="0" dirty="0">
              <a:solidFill>
                <a:srgbClr val="333333"/>
              </a:solidFill>
              <a:effectLst/>
              <a:latin typeface="Open Sans" panose="020B0606030504020204" pitchFamily="34" charset="0"/>
            </a:endParaRPr>
          </a:p>
          <a:p>
            <a:pPr marL="0" indent="0">
              <a:buNone/>
            </a:pPr>
            <a:r>
              <a:rPr lang="en-US" sz="2400" b="1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0.c   use </a:t>
            </a:r>
            <a:r>
              <a:rPr lang="en-US" sz="2400" b="1" dirty="0">
                <a:solidFill>
                  <a:srgbClr val="333333"/>
                </a:solidFill>
                <a:latin typeface="Open Sans" panose="020B0606030504020204" pitchFamily="34" charset="0"/>
              </a:rPr>
              <a:t>VNC viewer to have a </a:t>
            </a:r>
            <a:r>
              <a:rPr lang="en-US" sz="2400" b="1" i="0" dirty="0">
                <a:solidFill>
                  <a:srgbClr val="0000FF"/>
                </a:solidFill>
                <a:effectLst/>
                <a:latin typeface="Open Sans" panose="020B0606030504020204" pitchFamily="34" charset="0"/>
              </a:rPr>
              <a:t>monitor-less/Headless login</a:t>
            </a:r>
            <a:endParaRPr lang="en-US" sz="2400" b="1" dirty="0">
              <a:solidFill>
                <a:srgbClr val="0000FF"/>
              </a:solidFill>
              <a:latin typeface="Open Sans" panose="020B0606030504020204" pitchFamily="34" charset="0"/>
            </a:endParaRPr>
          </a:p>
          <a:p>
            <a:pPr marL="0" indent="0">
              <a:buNone/>
            </a:pPr>
            <a:r>
              <a:rPr lang="en-US" sz="2400" b="1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	user-name: </a:t>
            </a:r>
            <a:r>
              <a:rPr lang="en-US" sz="2400" b="1" i="0" dirty="0">
                <a:solidFill>
                  <a:srgbClr val="0000FF"/>
                </a:solidFill>
                <a:effectLst/>
                <a:latin typeface="Open Sans" panose="020B0606030504020204" pitchFamily="34" charset="0"/>
              </a:rPr>
              <a:t>pi</a:t>
            </a:r>
            <a:r>
              <a:rPr lang="en-US" sz="2400" b="1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,     password: </a:t>
            </a:r>
            <a:r>
              <a:rPr lang="en-US" sz="2400" b="1" i="0" dirty="0">
                <a:solidFill>
                  <a:srgbClr val="0000FF"/>
                </a:solidFill>
                <a:effectLst/>
                <a:latin typeface="Open Sans" panose="020B0606030504020204" pitchFamily="34" charset="0"/>
              </a:rPr>
              <a:t>raspberry</a:t>
            </a:r>
          </a:p>
          <a:p>
            <a:pPr marL="0" indent="0">
              <a:buNone/>
            </a:pPr>
            <a:r>
              <a:rPr lang="en-US" sz="2400" b="1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0.d  click R-Pi-icon -&gt; Programming -&gt; Scratch 3</a:t>
            </a:r>
          </a:p>
          <a:p>
            <a:pPr marL="0" indent="0">
              <a:buNone/>
            </a:pPr>
            <a:r>
              <a:rPr lang="en-US" sz="2400" b="1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0.e   run Scratch 3 -&gt; add </a:t>
            </a:r>
            <a:r>
              <a:rPr lang="en-US" sz="2400" b="1" i="0" dirty="0" err="1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SenseHAT</a:t>
            </a:r>
            <a:r>
              <a:rPr lang="en-US" sz="2400" b="1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 extension</a:t>
            </a:r>
          </a:p>
          <a:p>
            <a:pPr marL="0" indent="0">
              <a:buNone/>
            </a:pPr>
            <a:r>
              <a:rPr lang="en-US" sz="2400" b="1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0.f    </a:t>
            </a:r>
            <a:r>
              <a:rPr lang="en-US" sz="2400" b="1" i="0" dirty="0">
                <a:solidFill>
                  <a:srgbClr val="0000FF"/>
                </a:solidFill>
                <a:effectLst/>
                <a:latin typeface="Open Sans" panose="020B0606030504020204" pitchFamily="34" charset="0"/>
              </a:rPr>
              <a:t>Testing</a:t>
            </a:r>
            <a:r>
              <a:rPr lang="en-US" sz="2400" b="1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: Drag the “</a:t>
            </a:r>
            <a:r>
              <a:rPr lang="en-US" sz="2400" b="1" i="0" dirty="0">
                <a:solidFill>
                  <a:srgbClr val="00B050"/>
                </a:solidFill>
                <a:effectLst/>
                <a:latin typeface="Open Sans" panose="020B0606030504020204" pitchFamily="34" charset="0"/>
              </a:rPr>
              <a:t>display text Hello!” </a:t>
            </a:r>
            <a:r>
              <a:rPr lang="en-US" sz="2400" b="1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first.</a:t>
            </a:r>
          </a:p>
          <a:p>
            <a:pPr marL="0" indent="0">
              <a:buNone/>
            </a:pPr>
            <a:r>
              <a:rPr lang="en-US" sz="2400" b="1" dirty="0">
                <a:solidFill>
                  <a:srgbClr val="333333"/>
                </a:solidFill>
                <a:latin typeface="Open Sans" panose="020B0606030504020204" pitchFamily="34" charset="0"/>
              </a:rPr>
              <a:t>0.g: </a:t>
            </a:r>
            <a:r>
              <a:rPr lang="en-US" sz="2400" b="1" dirty="0">
                <a:solidFill>
                  <a:srgbClr val="0000FF"/>
                </a:solidFill>
                <a:latin typeface="Open Sans" panose="020B0606030504020204" pitchFamily="34" charset="0"/>
              </a:rPr>
              <a:t>Cool</a:t>
            </a:r>
            <a:r>
              <a:rPr lang="en-US" sz="2400" b="1" dirty="0">
                <a:solidFill>
                  <a:srgbClr val="333333"/>
                </a:solidFill>
                <a:latin typeface="Open Sans" panose="020B0606030504020204" pitchFamily="34" charset="0"/>
              </a:rPr>
              <a:t>!</a:t>
            </a:r>
            <a:endParaRPr lang="en-US" sz="2400" b="1" i="0" dirty="0">
              <a:solidFill>
                <a:srgbClr val="333333"/>
              </a:solidFill>
              <a:effectLst/>
              <a:latin typeface="Open Sans" panose="020B0606030504020204" pitchFamily="34" charset="0"/>
            </a:endParaRPr>
          </a:p>
          <a:p>
            <a:pPr marL="514350" indent="-514350">
              <a:buFont typeface="+mj-lt"/>
              <a:buAutoNum type="arabicPeriod"/>
            </a:pPr>
            <a:endParaRPr lang="en-US" sz="24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6085" y="1094744"/>
            <a:ext cx="3999035" cy="2867656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6360" y="5656289"/>
            <a:ext cx="1839278" cy="953571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55743" y="5981839"/>
            <a:ext cx="1787369" cy="876161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1518" y="4889976"/>
            <a:ext cx="924616" cy="92461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59202" y="4796493"/>
            <a:ext cx="2037835" cy="693198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43112" y="3622775"/>
            <a:ext cx="2146172" cy="166591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050562" y="5465307"/>
            <a:ext cx="862534" cy="1335536"/>
          </a:xfrm>
          <a:prstGeom prst="rect">
            <a:avLst/>
          </a:prstGeom>
        </p:spPr>
      </p:pic>
      <p:cxnSp>
        <p:nvCxnSpPr>
          <p:cNvPr id="14" name="Straight Arrow Connector 13"/>
          <p:cNvCxnSpPr/>
          <p:nvPr/>
        </p:nvCxnSpPr>
        <p:spPr>
          <a:xfrm flipV="1">
            <a:off x="7646134" y="1613647"/>
            <a:ext cx="1228925" cy="164037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 flipV="1">
            <a:off x="6721518" y="3772922"/>
            <a:ext cx="1121594" cy="62531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>
            <a:off x="6239435" y="5076354"/>
            <a:ext cx="482083" cy="6673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>
            <a:off x="2294965" y="5576047"/>
            <a:ext cx="242047" cy="351739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" name="Picture 2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86373" y="5927786"/>
            <a:ext cx="2247900" cy="904875"/>
          </a:xfrm>
          <a:prstGeom prst="rect">
            <a:avLst/>
          </a:prstGeom>
        </p:spPr>
      </p:pic>
      <p:pic>
        <p:nvPicPr>
          <p:cNvPr id="30" name="Picture 29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25588" y="5725510"/>
            <a:ext cx="1917887" cy="717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38910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814C23-B487-6988-0B9F-CE5C3564C4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854" y="365125"/>
            <a:ext cx="10958946" cy="1325563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0000FF"/>
                </a:solidFill>
                <a:latin typeface="Open Sans" panose="020B0606030504020204" pitchFamily="34" charset="0"/>
              </a:rPr>
              <a:t>P-01</a:t>
            </a:r>
            <a:r>
              <a:rPr lang="en-US" sz="4000" b="1" dirty="0">
                <a:solidFill>
                  <a:srgbClr val="333333"/>
                </a:solidFill>
                <a:latin typeface="Open Sans" panose="020B0606030504020204" pitchFamily="34" charset="0"/>
              </a:rPr>
              <a:t>: </a:t>
            </a:r>
            <a:r>
              <a:rPr lang="en-US" sz="4000" b="1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Scrolling “</a:t>
            </a:r>
            <a:r>
              <a:rPr lang="en-US" sz="4000" b="1" i="0" dirty="0">
                <a:solidFill>
                  <a:srgbClr val="0000FF"/>
                </a:solidFill>
                <a:effectLst/>
                <a:latin typeface="Open Sans" panose="020B0606030504020204" pitchFamily="34" charset="0"/>
              </a:rPr>
              <a:t>Hello World</a:t>
            </a:r>
            <a:r>
              <a:rPr lang="en-US" sz="4000" b="1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” App with Raspberry Pi Sense HAT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59CB61-B9EB-FE7C-5DCD-664A6EFA4F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854" y="1779444"/>
            <a:ext cx="8924637" cy="5078556"/>
          </a:xfrm>
        </p:spPr>
        <p:txBody>
          <a:bodyPr>
            <a:no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400" b="1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Drag “</a:t>
            </a:r>
            <a:r>
              <a:rPr lang="en-US" sz="2400" b="1" i="0" dirty="0">
                <a:solidFill>
                  <a:srgbClr val="00B050"/>
                </a:solidFill>
                <a:effectLst/>
                <a:latin typeface="Open Sans" panose="020B0606030504020204" pitchFamily="34" charset="0"/>
              </a:rPr>
              <a:t>When Green Flag</a:t>
            </a:r>
            <a:r>
              <a:rPr lang="en-US" sz="2400" b="1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 is clicked”</a:t>
            </a:r>
            <a:r>
              <a:rPr lang="en-US" sz="2400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 from the </a:t>
            </a:r>
            <a:r>
              <a:rPr lang="en-US" sz="2400" i="0" dirty="0">
                <a:solidFill>
                  <a:srgbClr val="00B050"/>
                </a:solidFill>
                <a:effectLst/>
                <a:latin typeface="Open Sans" panose="020B0606030504020204" pitchFamily="34" charset="0"/>
              </a:rPr>
              <a:t>Events section </a:t>
            </a:r>
            <a:r>
              <a:rPr lang="en-US" sz="2400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into the coding area.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b="1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Drag the “</a:t>
            </a:r>
            <a:r>
              <a:rPr lang="en-US" sz="2400" b="1" i="0" dirty="0">
                <a:solidFill>
                  <a:srgbClr val="00B050"/>
                </a:solidFill>
                <a:effectLst/>
                <a:latin typeface="Open Sans" panose="020B0606030504020204" pitchFamily="34" charset="0"/>
              </a:rPr>
              <a:t>What is your Name</a:t>
            </a:r>
            <a:r>
              <a:rPr lang="en-US" sz="2400" b="1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” block</a:t>
            </a:r>
            <a:r>
              <a:rPr lang="en-US" sz="2400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 from </a:t>
            </a:r>
            <a:r>
              <a:rPr lang="en-US" sz="2400" b="0" i="0" dirty="0">
                <a:solidFill>
                  <a:srgbClr val="00B050"/>
                </a:solidFill>
                <a:effectLst/>
                <a:latin typeface="Open Sans" panose="020B0606030504020204" pitchFamily="34" charset="0"/>
              </a:rPr>
              <a:t>“Sensing” </a:t>
            </a:r>
            <a:r>
              <a:rPr lang="en-US" sz="2400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and connect it under the previous block.</a:t>
            </a:r>
            <a:endParaRPr lang="en-US" sz="2400" dirty="0">
              <a:solidFill>
                <a:srgbClr val="333333"/>
              </a:solidFill>
              <a:latin typeface="Open Sans" panose="020B0606030504020204" pitchFamily="34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2400" b="1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Connect the “</a:t>
            </a:r>
            <a:r>
              <a:rPr lang="en-US" sz="2400" b="1" i="0" dirty="0">
                <a:solidFill>
                  <a:srgbClr val="00B050"/>
                </a:solidFill>
                <a:effectLst/>
                <a:latin typeface="Open Sans" panose="020B0606030504020204" pitchFamily="34" charset="0"/>
              </a:rPr>
              <a:t>Display Text</a:t>
            </a:r>
            <a:r>
              <a:rPr lang="en-US" sz="2400" b="1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” block</a:t>
            </a:r>
            <a:r>
              <a:rPr lang="en-US" sz="2400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 from the </a:t>
            </a:r>
            <a:r>
              <a:rPr lang="en-US" sz="2400" b="0" i="0" dirty="0">
                <a:solidFill>
                  <a:srgbClr val="00B050"/>
                </a:solidFill>
                <a:effectLst/>
                <a:latin typeface="Open Sans" panose="020B0606030504020204" pitchFamily="34" charset="0"/>
              </a:rPr>
              <a:t>Sense HAT section </a:t>
            </a:r>
            <a:r>
              <a:rPr lang="en-US" sz="2400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to the “what is your name” block. 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2000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Test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2000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We want to </a:t>
            </a:r>
            <a:r>
              <a:rPr lang="en-US" sz="2000" b="0" i="0" dirty="0">
                <a:solidFill>
                  <a:srgbClr val="0000FF"/>
                </a:solidFill>
                <a:effectLst/>
                <a:latin typeface="Open Sans" panose="020B0606030504020204" pitchFamily="34" charset="0"/>
              </a:rPr>
              <a:t>say hello to the user</a:t>
            </a:r>
            <a:r>
              <a:rPr lang="en-US" sz="2000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, but we also want to call them </a:t>
            </a:r>
            <a:r>
              <a:rPr lang="en-US" sz="2000" b="0" i="0" dirty="0">
                <a:solidFill>
                  <a:srgbClr val="0000FF"/>
                </a:solidFill>
                <a:effectLst/>
                <a:latin typeface="Open Sans" panose="020B0606030504020204" pitchFamily="34" charset="0"/>
              </a:rPr>
              <a:t>by their name</a:t>
            </a:r>
            <a:r>
              <a:rPr lang="en-US" sz="2000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b="1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Find the “</a:t>
            </a:r>
            <a:r>
              <a:rPr lang="en-US" sz="2400" b="1" i="0" dirty="0">
                <a:solidFill>
                  <a:srgbClr val="00B050"/>
                </a:solidFill>
                <a:effectLst/>
                <a:latin typeface="Open Sans" panose="020B0606030504020204" pitchFamily="34" charset="0"/>
              </a:rPr>
              <a:t>join apple banana</a:t>
            </a:r>
            <a:r>
              <a:rPr lang="en-US" sz="2400" b="1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” block </a:t>
            </a:r>
            <a:r>
              <a:rPr lang="en-US" sz="2400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under </a:t>
            </a:r>
            <a:r>
              <a:rPr lang="en-US" sz="2400" b="0" i="0" dirty="0">
                <a:solidFill>
                  <a:srgbClr val="00B050"/>
                </a:solidFill>
                <a:effectLst/>
                <a:latin typeface="Open Sans" panose="020B0606030504020204" pitchFamily="34" charset="0"/>
              </a:rPr>
              <a:t>Operators</a:t>
            </a:r>
            <a:r>
              <a:rPr lang="en-US" sz="2400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 and drag it over to </a:t>
            </a:r>
            <a:r>
              <a:rPr lang="en-US" sz="2400" b="1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replace the word “</a:t>
            </a:r>
            <a:r>
              <a:rPr lang="en-US" sz="2400" b="1" i="0" dirty="0">
                <a:solidFill>
                  <a:srgbClr val="00B050"/>
                </a:solidFill>
                <a:effectLst/>
                <a:latin typeface="Open Sans" panose="020B0606030504020204" pitchFamily="34" charset="0"/>
              </a:rPr>
              <a:t>hello</a:t>
            </a:r>
            <a:r>
              <a:rPr lang="en-US" sz="2400" b="1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” </a:t>
            </a:r>
            <a:r>
              <a:rPr lang="en-US" sz="2400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in display text.</a:t>
            </a:r>
            <a:endParaRPr lang="en-US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3E1C79D-91A7-1D08-9D88-B2410245E9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3593" y="4487950"/>
            <a:ext cx="2958407" cy="2200753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96235" y="3155295"/>
            <a:ext cx="1594858" cy="78179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3593" y="1146918"/>
            <a:ext cx="2857500" cy="187642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12904" y="911960"/>
            <a:ext cx="814948" cy="778728"/>
          </a:xfrm>
          <a:prstGeom prst="rect">
            <a:avLst/>
          </a:prstGeom>
        </p:spPr>
      </p:pic>
      <p:cxnSp>
        <p:nvCxnSpPr>
          <p:cNvPr id="12" name="Straight Arrow Connector 11"/>
          <p:cNvCxnSpPr/>
          <p:nvPr/>
        </p:nvCxnSpPr>
        <p:spPr>
          <a:xfrm flipV="1">
            <a:off x="1990165" y="1690688"/>
            <a:ext cx="7395882" cy="291717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10363200" y="5809129"/>
            <a:ext cx="1828800" cy="744071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Arrow Connector 16"/>
          <p:cNvCxnSpPr/>
          <p:nvPr/>
        </p:nvCxnSpPr>
        <p:spPr>
          <a:xfrm flipH="1">
            <a:off x="9807388" y="1425388"/>
            <a:ext cx="1405516" cy="52891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stCxn id="10" idx="2"/>
          </p:cNvCxnSpPr>
          <p:nvPr/>
        </p:nvCxnSpPr>
        <p:spPr>
          <a:xfrm flipH="1">
            <a:off x="11277600" y="1690688"/>
            <a:ext cx="342778" cy="79253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22902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C90A96-9C27-EB3D-D1AE-C7D7EBF9F2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5135" y="152255"/>
            <a:ext cx="11068665" cy="1325563"/>
          </a:xfrm>
        </p:spPr>
        <p:txBody>
          <a:bodyPr/>
          <a:lstStyle/>
          <a:p>
            <a:r>
              <a:rPr lang="en-US" b="1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Scrolling “</a:t>
            </a:r>
            <a:r>
              <a:rPr lang="en-US" b="1" i="0" dirty="0">
                <a:solidFill>
                  <a:srgbClr val="0000FF"/>
                </a:solidFill>
                <a:effectLst/>
                <a:latin typeface="Open Sans" panose="020B0606030504020204" pitchFamily="34" charset="0"/>
              </a:rPr>
              <a:t>Hello World</a:t>
            </a:r>
            <a:r>
              <a:rPr lang="en-US" b="1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” App (cont’d)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748AEE-6E73-C2C8-0931-9B2FC7CC70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5135" y="1477818"/>
            <a:ext cx="8891193" cy="5227782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 startAt="5"/>
            </a:pPr>
            <a:r>
              <a:rPr lang="en-US" b="1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Change “apple” to “Hell</a:t>
            </a:r>
            <a:r>
              <a:rPr lang="en-US" b="1" i="0" dirty="0">
                <a:solidFill>
                  <a:srgbClr val="0000FF"/>
                </a:solidFill>
                <a:effectLst/>
                <a:latin typeface="Open Sans" panose="020B0606030504020204" pitchFamily="34" charset="0"/>
              </a:rPr>
              <a:t>o "</a:t>
            </a:r>
            <a:r>
              <a:rPr lang="en-US" b="1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 </a:t>
            </a:r>
            <a:r>
              <a:rPr lang="en-US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(the </a:t>
            </a:r>
            <a:r>
              <a:rPr lang="en-US" b="0" i="0" dirty="0">
                <a:solidFill>
                  <a:srgbClr val="0000FF"/>
                </a:solidFill>
                <a:effectLst/>
                <a:latin typeface="Open Sans" panose="020B0606030504020204" pitchFamily="34" charset="0"/>
              </a:rPr>
              <a:t>space</a:t>
            </a:r>
            <a:r>
              <a:rPr lang="en-US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 after </a:t>
            </a:r>
            <a:r>
              <a:rPr lang="en-US" b="0" i="0" dirty="0">
                <a:solidFill>
                  <a:srgbClr val="00B050"/>
                </a:solidFill>
                <a:effectLst/>
                <a:latin typeface="Open Sans" panose="020B0606030504020204" pitchFamily="34" charset="0"/>
              </a:rPr>
              <a:t>Hello</a:t>
            </a:r>
            <a:r>
              <a:rPr lang="en-US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 is important!).</a:t>
            </a:r>
          </a:p>
          <a:p>
            <a:pPr marL="514350" indent="-514350">
              <a:buFont typeface="+mj-lt"/>
              <a:buAutoNum type="arabicPeriod" startAt="5"/>
            </a:pPr>
            <a:r>
              <a:rPr lang="en-US" b="1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Drag the “</a:t>
            </a:r>
            <a:r>
              <a:rPr lang="en-US" b="1" i="0" dirty="0">
                <a:solidFill>
                  <a:srgbClr val="00B050"/>
                </a:solidFill>
                <a:effectLst/>
                <a:latin typeface="Open Sans" panose="020B0606030504020204" pitchFamily="34" charset="0"/>
              </a:rPr>
              <a:t>answer</a:t>
            </a:r>
            <a:r>
              <a:rPr lang="en-US" b="1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” block </a:t>
            </a:r>
            <a:r>
              <a:rPr lang="en-US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from </a:t>
            </a:r>
            <a:r>
              <a:rPr lang="en-US" b="0" i="0" dirty="0">
                <a:solidFill>
                  <a:srgbClr val="00B050"/>
                </a:solidFill>
                <a:effectLst/>
                <a:latin typeface="Open Sans" panose="020B0606030504020204" pitchFamily="34" charset="0"/>
              </a:rPr>
              <a:t>Sensing</a:t>
            </a:r>
            <a:r>
              <a:rPr lang="en-US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 and </a:t>
            </a:r>
            <a:r>
              <a:rPr lang="en-US" b="1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drop it on top of the “</a:t>
            </a:r>
            <a:r>
              <a:rPr lang="en-US" b="1" i="0" dirty="0">
                <a:solidFill>
                  <a:srgbClr val="00B050"/>
                </a:solidFill>
                <a:effectLst/>
                <a:latin typeface="Open Sans" panose="020B0606030504020204" pitchFamily="34" charset="0"/>
              </a:rPr>
              <a:t>banana</a:t>
            </a:r>
            <a:r>
              <a:rPr lang="en-US" b="1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” </a:t>
            </a:r>
            <a:r>
              <a:rPr lang="en-US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section of the join block. </a:t>
            </a:r>
          </a:p>
          <a:p>
            <a:pPr lvl="1"/>
            <a:r>
              <a:rPr lang="en-US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By doing this the answer to the question “What’s your name?” is saved as </a:t>
            </a:r>
            <a:r>
              <a:rPr lang="en-US" b="0" i="0" dirty="0">
                <a:solidFill>
                  <a:srgbClr val="0000FF"/>
                </a:solidFill>
                <a:effectLst/>
                <a:latin typeface="Open Sans" panose="020B0606030504020204" pitchFamily="34" charset="0"/>
              </a:rPr>
              <a:t>a variable </a:t>
            </a:r>
            <a:r>
              <a:rPr lang="en-US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called “</a:t>
            </a:r>
            <a:r>
              <a:rPr lang="en-US" b="1" i="0" dirty="0">
                <a:solidFill>
                  <a:srgbClr val="00B050"/>
                </a:solidFill>
                <a:effectLst/>
                <a:latin typeface="Open Sans" panose="020B0606030504020204" pitchFamily="34" charset="0"/>
              </a:rPr>
              <a:t>answer</a:t>
            </a:r>
            <a:r>
              <a:rPr lang="en-US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” which is then used to greet the user by their name.</a:t>
            </a:r>
            <a:endParaRPr lang="en-US" dirty="0">
              <a:solidFill>
                <a:srgbClr val="333333"/>
              </a:solidFill>
              <a:latin typeface="Open Sans" panose="020B0606030504020204" pitchFamily="34" charset="0"/>
            </a:endParaRPr>
          </a:p>
          <a:p>
            <a:pPr marL="514350" indent="-514350" algn="l" fontAlgn="base">
              <a:buFont typeface="+mj-lt"/>
              <a:buAutoNum type="arabicPeriod" startAt="5"/>
            </a:pPr>
            <a:r>
              <a:rPr lang="en-US" b="1" i="0" dirty="0">
                <a:solidFill>
                  <a:srgbClr val="333333"/>
                </a:solidFill>
                <a:effectLst/>
                <a:latin typeface="inherit"/>
              </a:rPr>
              <a:t>Click on the </a:t>
            </a:r>
            <a:r>
              <a:rPr lang="en-US" b="1" i="0" dirty="0">
                <a:solidFill>
                  <a:srgbClr val="00B050"/>
                </a:solidFill>
                <a:effectLst/>
                <a:latin typeface="inherit"/>
              </a:rPr>
              <a:t>Green Flag </a:t>
            </a:r>
            <a:r>
              <a:rPr lang="en-US" b="1" i="0" dirty="0">
                <a:solidFill>
                  <a:srgbClr val="333333"/>
                </a:solidFill>
                <a:effectLst/>
                <a:latin typeface="inherit"/>
              </a:rPr>
              <a:t>icon</a:t>
            </a:r>
            <a:r>
              <a:rPr lang="en-US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, just above the stage and the sprite will ask your name.</a:t>
            </a:r>
          </a:p>
          <a:p>
            <a:pPr marL="514350" indent="-514350" algn="l" fontAlgn="base">
              <a:buFont typeface="+mj-lt"/>
              <a:buAutoNum type="arabicPeriod" startAt="5"/>
            </a:pPr>
            <a:r>
              <a:rPr lang="en-US" b="1" i="0" dirty="0">
                <a:solidFill>
                  <a:srgbClr val="00B050"/>
                </a:solidFill>
                <a:effectLst/>
                <a:latin typeface="inherit"/>
              </a:rPr>
              <a:t>Enter your name</a:t>
            </a:r>
            <a:r>
              <a:rPr lang="en-US" b="1" i="0" dirty="0">
                <a:solidFill>
                  <a:srgbClr val="333333"/>
                </a:solidFill>
                <a:effectLst/>
                <a:latin typeface="inherit"/>
              </a:rPr>
              <a:t> </a:t>
            </a:r>
            <a:r>
              <a:rPr lang="en-US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and </a:t>
            </a:r>
            <a:r>
              <a:rPr lang="en-US" b="0" i="0" dirty="0">
                <a:solidFill>
                  <a:srgbClr val="0000FF"/>
                </a:solidFill>
                <a:effectLst/>
                <a:latin typeface="Open Sans" panose="020B0606030504020204" pitchFamily="34" charset="0"/>
              </a:rPr>
              <a:t>watch</a:t>
            </a:r>
            <a:r>
              <a:rPr lang="en-US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 as your </a:t>
            </a:r>
            <a:r>
              <a:rPr lang="en-US" b="0" i="0" dirty="0">
                <a:solidFill>
                  <a:srgbClr val="00B050"/>
                </a:solidFill>
                <a:effectLst/>
                <a:latin typeface="Open Sans" panose="020B0606030504020204" pitchFamily="34" charset="0"/>
              </a:rPr>
              <a:t>Sense HAT greets </a:t>
            </a:r>
            <a:r>
              <a:rPr lang="en-US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you by name. </a:t>
            </a:r>
          </a:p>
          <a:p>
            <a:pPr marL="514350" indent="-514350">
              <a:buFont typeface="+mj-lt"/>
              <a:buAutoNum type="arabicPeriod" startAt="5"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E96C72F-2416-96C4-35ED-E238ED034D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8055" y="217977"/>
            <a:ext cx="3780770" cy="2032164"/>
          </a:xfrm>
          <a:prstGeom prst="rect">
            <a:avLst/>
          </a:prstGeom>
        </p:spPr>
      </p:pic>
      <p:sp>
        <p:nvSpPr>
          <p:cNvPr id="5" name="Arrow: Curved Up 4">
            <a:extLst>
              <a:ext uri="{FF2B5EF4-FFF2-40B4-BE49-F238E27FC236}">
                <a16:creationId xmlns:a16="http://schemas.microsoft.com/office/drawing/2014/main" id="{ED61D61A-9DF2-F2F6-9507-735D1A322CFF}"/>
              </a:ext>
            </a:extLst>
          </p:cNvPr>
          <p:cNvSpPr/>
          <p:nvPr/>
        </p:nvSpPr>
        <p:spPr>
          <a:xfrm rot="417808" flipH="1">
            <a:off x="4102926" y="1831501"/>
            <a:ext cx="1437399" cy="403630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6BEEB4C-A837-8A38-EA40-28EAF022D8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76328" y="3932933"/>
            <a:ext cx="3017698" cy="2487315"/>
          </a:xfrm>
          <a:prstGeom prst="rect">
            <a:avLst/>
          </a:prstGeom>
        </p:spPr>
      </p:pic>
      <p:sp>
        <p:nvSpPr>
          <p:cNvPr id="8" name="Down Arrow 7"/>
          <p:cNvSpPr/>
          <p:nvPr/>
        </p:nvSpPr>
        <p:spPr>
          <a:xfrm rot="11128314">
            <a:off x="10716781" y="1823650"/>
            <a:ext cx="166055" cy="670768"/>
          </a:xfrm>
          <a:prstGeom prst="downArrow">
            <a:avLst>
              <a:gd name="adj1" fmla="val 82041"/>
              <a:gd name="adj2" fmla="val 50000"/>
            </a:avLst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Arrow Connector 9"/>
          <p:cNvCxnSpPr/>
          <p:nvPr/>
        </p:nvCxnSpPr>
        <p:spPr>
          <a:xfrm flipV="1">
            <a:off x="4365812" y="842682"/>
            <a:ext cx="3998259" cy="343348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>
            <a:off x="3810000" y="5602941"/>
            <a:ext cx="5548116" cy="51098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38356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812D1E-BA67-A108-903E-8A28793E53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Scrolling “</a:t>
            </a:r>
            <a:r>
              <a:rPr lang="en-US" b="1" i="0" dirty="0">
                <a:solidFill>
                  <a:srgbClr val="0000FF"/>
                </a:solidFill>
                <a:effectLst/>
                <a:latin typeface="Open Sans" panose="020B0606030504020204" pitchFamily="34" charset="0"/>
              </a:rPr>
              <a:t>Hello World</a:t>
            </a:r>
            <a:r>
              <a:rPr lang="en-US" b="1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” App with Raspberry Pi Sense HAT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882E5CE-8347-F922-7672-91C08B0A58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74" y="1889557"/>
            <a:ext cx="5161088" cy="2774085"/>
          </a:xfrm>
          <a:prstGeom prst="rect">
            <a:avLst/>
          </a:prstGeom>
        </p:spPr>
      </p:pic>
      <p:sp>
        <p:nvSpPr>
          <p:cNvPr id="6" name="AutoShape 2" descr="Raspberry Pi Sense HAT Projects">
            <a:extLst>
              <a:ext uri="{FF2B5EF4-FFF2-40B4-BE49-F238E27FC236}">
                <a16:creationId xmlns:a16="http://schemas.microsoft.com/office/drawing/2014/main" id="{FEDD271A-D86F-00E6-39CA-B1CD5AABACE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85ED11D-15F8-E8BB-88BA-8471BF829C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2864" y="1314089"/>
            <a:ext cx="5501562" cy="4534621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75129" y="5271201"/>
            <a:ext cx="3406589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0000FF"/>
                </a:solidFill>
              </a:rPr>
              <a:t>Done Project-01.</a:t>
            </a:r>
          </a:p>
          <a:p>
            <a:r>
              <a:rPr lang="en-US" sz="2800" b="1" dirty="0">
                <a:solidFill>
                  <a:srgbClr val="0000FF"/>
                </a:solidFill>
              </a:rPr>
              <a:t>Fun and Interesting!</a:t>
            </a:r>
          </a:p>
        </p:txBody>
      </p:sp>
    </p:spTree>
    <p:extLst>
      <p:ext uri="{BB962C8B-B14F-4D97-AF65-F5344CB8AC3E}">
        <p14:creationId xmlns:p14="http://schemas.microsoft.com/office/powerpoint/2010/main" val="14130164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1E672C-58C3-B842-E29C-4AD1A98D51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47737"/>
            <a:ext cx="10515600" cy="5229226"/>
          </a:xfrm>
        </p:spPr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Done Project-01.</a:t>
            </a:r>
          </a:p>
          <a:p>
            <a:r>
              <a:rPr lang="en-US" dirty="0">
                <a:solidFill>
                  <a:srgbClr val="0000FF"/>
                </a:solidFill>
              </a:rPr>
              <a:t>Fun and Interesting!</a:t>
            </a:r>
          </a:p>
          <a:p>
            <a:endParaRPr lang="en-US" dirty="0">
              <a:solidFill>
                <a:srgbClr val="0000FF"/>
              </a:solidFill>
            </a:endParaRPr>
          </a:p>
          <a:p>
            <a:r>
              <a:rPr lang="en-US" dirty="0">
                <a:solidFill>
                  <a:srgbClr val="0000FF"/>
                </a:solidFill>
              </a:rPr>
              <a:t>Let’s Try More …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Temperature sensor</a:t>
            </a:r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096764AA-EF2F-4F63-857D-50270C672051}"/>
              </a:ext>
            </a:extLst>
          </p:cNvPr>
          <p:cNvSpPr/>
          <p:nvPr/>
        </p:nvSpPr>
        <p:spPr>
          <a:xfrm rot="820683">
            <a:off x="3847744" y="2893345"/>
            <a:ext cx="1338230" cy="266700"/>
          </a:xfrm>
          <a:prstGeom prst="rightArrow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8530" y="947737"/>
            <a:ext cx="2824882" cy="5820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44766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54962F-DAB2-7077-618A-A4DAD50BE9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6452" y="163811"/>
            <a:ext cx="11043591" cy="1325563"/>
          </a:xfrm>
        </p:spPr>
        <p:txBody>
          <a:bodyPr>
            <a:normAutofit/>
          </a:bodyPr>
          <a:lstStyle/>
          <a:p>
            <a:r>
              <a:rPr lang="en-US" b="1" i="0" dirty="0">
                <a:solidFill>
                  <a:srgbClr val="0000FF"/>
                </a:solidFill>
                <a:effectLst/>
                <a:latin typeface="Open Sans" panose="020B0606030504020204" pitchFamily="34" charset="0"/>
              </a:rPr>
              <a:t>P-02</a:t>
            </a:r>
            <a:r>
              <a:rPr lang="en-US" b="1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: </a:t>
            </a:r>
            <a:r>
              <a:rPr lang="en-US" b="1" i="0" dirty="0">
                <a:solidFill>
                  <a:srgbClr val="0000FF"/>
                </a:solidFill>
                <a:effectLst/>
                <a:latin typeface="Open Sans" panose="020B0606030504020204" pitchFamily="34" charset="0"/>
              </a:rPr>
              <a:t>Joystick</a:t>
            </a:r>
            <a:r>
              <a:rPr lang="en-US" b="1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1" i="0" dirty="0">
                <a:solidFill>
                  <a:srgbClr val="0000FF"/>
                </a:solidFill>
                <a:effectLst/>
                <a:latin typeface="Open Sans" panose="020B0606030504020204" pitchFamily="34" charset="0"/>
              </a:rPr>
              <a:t>Input</a:t>
            </a:r>
            <a:r>
              <a:rPr lang="en-US" b="1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, </a:t>
            </a:r>
            <a:r>
              <a:rPr lang="en-US" b="1" i="0" dirty="0">
                <a:solidFill>
                  <a:srgbClr val="0000FF"/>
                </a:solidFill>
                <a:effectLst/>
                <a:latin typeface="Open Sans" panose="020B0606030504020204" pitchFamily="34" charset="0"/>
              </a:rPr>
              <a:t>Temperature</a:t>
            </a:r>
            <a:r>
              <a:rPr lang="en-US" b="1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 Reading with Raspberry Pi Sense HAT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42CBC8-DDD7-2D14-215D-0033FA4A40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0209" y="1612521"/>
            <a:ext cx="9121906" cy="5120788"/>
          </a:xfrm>
        </p:spPr>
        <p:txBody>
          <a:bodyPr>
            <a:no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400" dirty="0"/>
              <a:t>The test project uses the </a:t>
            </a:r>
            <a:r>
              <a:rPr lang="en-US" sz="2400" dirty="0">
                <a:solidFill>
                  <a:srgbClr val="0000FF"/>
                </a:solidFill>
              </a:rPr>
              <a:t>“</a:t>
            </a:r>
            <a:r>
              <a:rPr lang="en-US" sz="2400" dirty="0">
                <a:solidFill>
                  <a:srgbClr val="00B050"/>
                </a:solidFill>
              </a:rPr>
              <a:t>When joystick pushed up</a:t>
            </a:r>
            <a:r>
              <a:rPr lang="en-US" sz="2400" dirty="0">
                <a:solidFill>
                  <a:srgbClr val="0000FF"/>
                </a:solidFill>
              </a:rPr>
              <a:t>” </a:t>
            </a:r>
            <a:r>
              <a:rPr lang="en-US" sz="2400" dirty="0"/>
              <a:t>block found in the </a:t>
            </a:r>
            <a:r>
              <a:rPr lang="en-US" sz="2400" dirty="0">
                <a:solidFill>
                  <a:srgbClr val="00B050"/>
                </a:solidFill>
              </a:rPr>
              <a:t>“Sense HAT” </a:t>
            </a:r>
            <a:r>
              <a:rPr lang="en-US" sz="2400" dirty="0"/>
              <a:t>section.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b="1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Drag the “</a:t>
            </a:r>
            <a:r>
              <a:rPr lang="en-US" sz="2400" b="1" i="0" dirty="0">
                <a:solidFill>
                  <a:srgbClr val="00B050"/>
                </a:solidFill>
                <a:effectLst/>
                <a:latin typeface="Open Sans" panose="020B0606030504020204" pitchFamily="34" charset="0"/>
              </a:rPr>
              <a:t>When joystick pushed up</a:t>
            </a:r>
            <a:r>
              <a:rPr lang="en-US" sz="2400" b="1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” block </a:t>
            </a:r>
            <a:r>
              <a:rPr lang="en-US" sz="2400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from the “Sense HAT” section into the coding area then </a:t>
            </a:r>
            <a:r>
              <a:rPr lang="en-US" sz="2400" b="1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change the direction</a:t>
            </a:r>
            <a:r>
              <a:rPr lang="en-US" sz="2400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 to push the joystick </a:t>
            </a:r>
            <a:r>
              <a:rPr lang="en-US" sz="2400" b="0" i="0" dirty="0">
                <a:solidFill>
                  <a:srgbClr val="00B050"/>
                </a:solidFill>
                <a:effectLst/>
                <a:latin typeface="Open Sans" panose="020B0606030504020204" pitchFamily="34" charset="0"/>
              </a:rPr>
              <a:t>from up to </a:t>
            </a:r>
            <a:r>
              <a:rPr lang="en-US" sz="2400" b="1" i="0" dirty="0">
                <a:solidFill>
                  <a:srgbClr val="0000FF"/>
                </a:solidFill>
                <a:effectLst/>
                <a:latin typeface="Open Sans" panose="020B0606030504020204" pitchFamily="34" charset="0"/>
              </a:rPr>
              <a:t>centre</a:t>
            </a:r>
            <a:r>
              <a:rPr lang="en-US" sz="2400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b="1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Add the “</a:t>
            </a:r>
            <a:r>
              <a:rPr lang="en-US" sz="2400" b="1" i="0" dirty="0">
                <a:solidFill>
                  <a:srgbClr val="00B050"/>
                </a:solidFill>
                <a:effectLst/>
                <a:latin typeface="Open Sans" panose="020B0606030504020204" pitchFamily="34" charset="0"/>
              </a:rPr>
              <a:t>set color to</a:t>
            </a:r>
            <a:r>
              <a:rPr lang="en-US" sz="2400" b="1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” block</a:t>
            </a:r>
            <a:r>
              <a:rPr lang="en-US" sz="2400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, also from the “Sense HAT” section. Then </a:t>
            </a:r>
            <a:r>
              <a:rPr lang="en-US" sz="2400" b="1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change the </a:t>
            </a:r>
            <a:r>
              <a:rPr lang="en-US" sz="2400" b="1" i="0" dirty="0">
                <a:solidFill>
                  <a:srgbClr val="00B050"/>
                </a:solidFill>
                <a:effectLst/>
                <a:latin typeface="Open Sans" panose="020B0606030504020204" pitchFamily="34" charset="0"/>
              </a:rPr>
              <a:t>color</a:t>
            </a:r>
            <a:r>
              <a:rPr lang="en-US" sz="2400" b="1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 </a:t>
            </a:r>
            <a:r>
              <a:rPr lang="en-US" sz="2400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to something interesting (e.g., </a:t>
            </a:r>
            <a:r>
              <a:rPr lang="en-US" sz="2400" b="1" i="0" dirty="0">
                <a:solidFill>
                  <a:srgbClr val="FF0000"/>
                </a:solidFill>
                <a:effectLst/>
                <a:latin typeface="Open Sans" panose="020B0606030504020204" pitchFamily="34" charset="0"/>
              </a:rPr>
              <a:t>Red</a:t>
            </a:r>
            <a:r>
              <a:rPr lang="en-US" sz="2400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).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b="1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Connect the “</a:t>
            </a:r>
            <a:r>
              <a:rPr lang="en-US" sz="2400" b="1" i="0" dirty="0">
                <a:solidFill>
                  <a:srgbClr val="00B050"/>
                </a:solidFill>
                <a:effectLst/>
                <a:latin typeface="Open Sans" panose="020B0606030504020204" pitchFamily="34" charset="0"/>
              </a:rPr>
              <a:t>Display...</a:t>
            </a:r>
            <a:r>
              <a:rPr lang="en-US" sz="2400" b="1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” block </a:t>
            </a:r>
            <a:r>
              <a:rPr lang="en-US" sz="2400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to the previous block. The default image is </a:t>
            </a:r>
            <a:r>
              <a:rPr lang="en-US" sz="2400" b="1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some pixel art </a:t>
            </a:r>
            <a:r>
              <a:rPr lang="en-US" sz="2400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of the </a:t>
            </a:r>
            <a:r>
              <a:rPr lang="en-US" sz="2400" b="1" i="0" dirty="0">
                <a:solidFill>
                  <a:srgbClr val="0000FF"/>
                </a:solidFill>
                <a:effectLst/>
                <a:latin typeface="Open Sans" panose="020B0606030504020204" pitchFamily="34" charset="0"/>
              </a:rPr>
              <a:t>Pi logo</a:t>
            </a:r>
            <a:r>
              <a:rPr lang="en-US" sz="2400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b="1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test</a:t>
            </a:r>
            <a:r>
              <a:rPr lang="en-US" sz="2400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 by </a:t>
            </a:r>
            <a:r>
              <a:rPr lang="en-US" sz="2400" b="0" i="0" dirty="0">
                <a:solidFill>
                  <a:srgbClr val="0000FF"/>
                </a:solidFill>
                <a:effectLst/>
                <a:latin typeface="Open Sans" panose="020B0606030504020204" pitchFamily="34" charset="0"/>
              </a:rPr>
              <a:t>pressing</a:t>
            </a:r>
            <a:r>
              <a:rPr lang="en-US" sz="2400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 the </a:t>
            </a:r>
            <a:r>
              <a:rPr lang="en-US" sz="2400" b="1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joystick </a:t>
            </a:r>
            <a:r>
              <a:rPr lang="en-US" sz="2400" b="1" i="0" dirty="0">
                <a:solidFill>
                  <a:srgbClr val="00B050"/>
                </a:solidFill>
                <a:effectLst/>
                <a:latin typeface="Open Sans" panose="020B0606030504020204" pitchFamily="34" charset="0"/>
              </a:rPr>
              <a:t>centre</a:t>
            </a:r>
            <a:r>
              <a:rPr lang="en-US" sz="2400" b="1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 </a:t>
            </a:r>
            <a:endParaRPr lang="en-US" sz="24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0F1AD74-49FD-6839-34BB-7FF31A71A4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95661" y="4909523"/>
            <a:ext cx="2939874" cy="165481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E1ABA3A-9CC6-9578-FAF6-44E874E204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4351" y="1858124"/>
            <a:ext cx="2820380" cy="187726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1B72990-A601-74CE-B71B-D7613FBA76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93192" y="3876583"/>
            <a:ext cx="1538864" cy="680503"/>
          </a:xfrm>
          <a:prstGeom prst="rect">
            <a:avLst/>
          </a:prstGeom>
        </p:spPr>
      </p:pic>
      <p:sp>
        <p:nvSpPr>
          <p:cNvPr id="10" name="Oval 9">
            <a:extLst>
              <a:ext uri="{FF2B5EF4-FFF2-40B4-BE49-F238E27FC236}">
                <a16:creationId xmlns:a16="http://schemas.microsoft.com/office/drawing/2014/main" id="{C37565E6-0E27-43AD-A0C7-32CDC1DBF528}"/>
              </a:ext>
            </a:extLst>
          </p:cNvPr>
          <p:cNvSpPr/>
          <p:nvPr/>
        </p:nvSpPr>
        <p:spPr>
          <a:xfrm>
            <a:off x="11297711" y="1930886"/>
            <a:ext cx="784225" cy="825067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Arrow Connector 6"/>
          <p:cNvCxnSpPr>
            <a:cxnSpLocks/>
          </p:cNvCxnSpPr>
          <p:nvPr/>
        </p:nvCxnSpPr>
        <p:spPr>
          <a:xfrm flipV="1">
            <a:off x="7533742" y="2456330"/>
            <a:ext cx="3636282" cy="69757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cxnSpLocks/>
          </p:cNvCxnSpPr>
          <p:nvPr/>
        </p:nvCxnSpPr>
        <p:spPr>
          <a:xfrm flipV="1">
            <a:off x="2286000" y="2913530"/>
            <a:ext cx="8498541" cy="136400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97711" y="2838180"/>
            <a:ext cx="860023" cy="1123894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49386" y="5417884"/>
            <a:ext cx="1208366" cy="1246259"/>
          </a:xfrm>
          <a:prstGeom prst="rect">
            <a:avLst/>
          </a:prstGeom>
        </p:spPr>
      </p:pic>
      <p:cxnSp>
        <p:nvCxnSpPr>
          <p:cNvPr id="17" name="Straight Arrow Connector 16"/>
          <p:cNvCxnSpPr>
            <a:cxnSpLocks/>
          </p:cNvCxnSpPr>
          <p:nvPr/>
        </p:nvCxnSpPr>
        <p:spPr>
          <a:xfrm>
            <a:off x="7330698" y="5245479"/>
            <a:ext cx="2144996" cy="30709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Picture 1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33742" y="5859494"/>
            <a:ext cx="1678901" cy="734519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98312" y="885111"/>
            <a:ext cx="2596167" cy="783908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D480699-3E9C-C7DC-0B9D-48D7715B93D2}"/>
              </a:ext>
            </a:extLst>
          </p:cNvPr>
          <p:cNvCxnSpPr/>
          <p:nvPr/>
        </p:nvCxnSpPr>
        <p:spPr>
          <a:xfrm>
            <a:off x="8052820" y="1440329"/>
            <a:ext cx="3297223" cy="79018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cxnSpLocks/>
          </p:cNvCxnSpPr>
          <p:nvPr/>
        </p:nvCxnSpPr>
        <p:spPr>
          <a:xfrm flipV="1">
            <a:off x="4169044" y="2913530"/>
            <a:ext cx="5263071" cy="79056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 flipV="1">
            <a:off x="3720353" y="3384906"/>
            <a:ext cx="5777417" cy="139426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3D1D9B2-E7AC-51AA-DBEA-D3FCE4BA4BB9}"/>
              </a:ext>
            </a:extLst>
          </p:cNvPr>
          <p:cNvCxnSpPr/>
          <p:nvPr/>
        </p:nvCxnSpPr>
        <p:spPr>
          <a:xfrm>
            <a:off x="5441576" y="5790328"/>
            <a:ext cx="5459506" cy="40456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55100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8918" y="493058"/>
            <a:ext cx="8850966" cy="6239435"/>
          </a:xfrm>
        </p:spPr>
        <p:txBody>
          <a:bodyPr>
            <a:normAutofit/>
          </a:bodyPr>
          <a:lstStyle/>
          <a:p>
            <a:r>
              <a:rPr lang="en-US" dirty="0"/>
              <a:t>A more </a:t>
            </a:r>
            <a:r>
              <a:rPr lang="en-US" b="1" dirty="0">
                <a:solidFill>
                  <a:srgbClr val="0000FF"/>
                </a:solidFill>
              </a:rPr>
              <a:t>complex</a:t>
            </a:r>
            <a:r>
              <a:rPr lang="en-US" dirty="0">
                <a:solidFill>
                  <a:srgbClr val="0000FF"/>
                </a:solidFill>
              </a:rPr>
              <a:t> project</a:t>
            </a:r>
            <a:r>
              <a:rPr lang="en-US" dirty="0"/>
              <a:t>. This project will check the </a:t>
            </a:r>
            <a:r>
              <a:rPr lang="en-US" b="1" dirty="0">
                <a:solidFill>
                  <a:srgbClr val="0000FF"/>
                </a:solidFill>
              </a:rPr>
              <a:t>temperature</a:t>
            </a:r>
          </a:p>
          <a:p>
            <a:r>
              <a:rPr lang="en-US" b="1" dirty="0">
                <a:solidFill>
                  <a:srgbClr val="0000FF"/>
                </a:solidFill>
              </a:rPr>
              <a:t>Click the temperature block (i.e., report-block) to have reading</a:t>
            </a:r>
          </a:p>
          <a:p>
            <a:r>
              <a:rPr lang="en-US" b="1" dirty="0">
                <a:solidFill>
                  <a:srgbClr val="FF0000"/>
                </a:solidFill>
                <a:latin typeface="Open Sans" panose="020B0606030504020204" pitchFamily="34" charset="0"/>
              </a:rPr>
              <a:t>Why only 39.94?</a:t>
            </a:r>
          </a:p>
          <a:p>
            <a:pPr lvl="1"/>
            <a:r>
              <a:rPr lang="en-US" b="1" dirty="0">
                <a:solidFill>
                  <a:srgbClr val="FF0000"/>
                </a:solidFill>
                <a:latin typeface="Open Sans" panose="020B0606030504020204" pitchFamily="34" charset="0"/>
              </a:rPr>
              <a:t>Sensor Problem/Mal-function? Or</a:t>
            </a:r>
          </a:p>
          <a:p>
            <a:pPr lvl="1"/>
            <a:r>
              <a:rPr lang="en-US" b="1" dirty="0">
                <a:solidFill>
                  <a:srgbClr val="FF0000"/>
                </a:solidFill>
                <a:latin typeface="Open Sans" panose="020B0606030504020204" pitchFamily="34" charset="0"/>
              </a:rPr>
              <a:t>Locality/Region/Country Issue?</a:t>
            </a:r>
          </a:p>
          <a:p>
            <a:r>
              <a:rPr lang="en-US" b="1" dirty="0"/>
              <a:t>Observation</a:t>
            </a:r>
            <a:r>
              <a:rPr lang="en-US" dirty="0"/>
              <a:t>:</a:t>
            </a:r>
          </a:p>
          <a:p>
            <a:r>
              <a:rPr lang="en-US" sz="2400" dirty="0"/>
              <a:t>In </a:t>
            </a:r>
            <a:r>
              <a:rPr lang="en-US" sz="2400" dirty="0">
                <a:solidFill>
                  <a:srgbClr val="0000FF"/>
                </a:solidFill>
              </a:rPr>
              <a:t>U.K</a:t>
            </a:r>
            <a:r>
              <a:rPr lang="en-US" sz="2400" dirty="0"/>
              <a:t>, the </a:t>
            </a:r>
            <a:r>
              <a:rPr lang="en-US" sz="2400" dirty="0">
                <a:solidFill>
                  <a:srgbClr val="0000FF"/>
                </a:solidFill>
              </a:rPr>
              <a:t>temperature unit </a:t>
            </a:r>
            <a:r>
              <a:rPr lang="en-US" sz="2400" dirty="0"/>
              <a:t>is based on </a:t>
            </a:r>
            <a:r>
              <a:rPr lang="en-US" sz="2400" dirty="0">
                <a:solidFill>
                  <a:srgbClr val="0000FF"/>
                </a:solidFill>
              </a:rPr>
              <a:t>degree C</a:t>
            </a:r>
            <a:r>
              <a:rPr lang="en-US" sz="2400" dirty="0"/>
              <a:t> (i.e., Celsius)</a:t>
            </a:r>
          </a:p>
          <a:p>
            <a:pPr lvl="1"/>
            <a:r>
              <a:rPr lang="en-US" sz="2000" dirty="0"/>
              <a:t>In addition, made in USA?, no, made in UK</a:t>
            </a:r>
          </a:p>
          <a:p>
            <a:r>
              <a:rPr lang="en-US" sz="2400" dirty="0"/>
              <a:t>In U.S?  </a:t>
            </a:r>
            <a:r>
              <a:rPr lang="en-US" sz="2000" dirty="0">
                <a:solidFill>
                  <a:srgbClr val="0000FF"/>
                </a:solidFill>
              </a:rPr>
              <a:t>degree F</a:t>
            </a:r>
            <a:r>
              <a:rPr lang="en-US" sz="2000" dirty="0"/>
              <a:t> (Fahrenheit)</a:t>
            </a:r>
          </a:p>
          <a:p>
            <a:r>
              <a:rPr lang="en-US" sz="2000" b="1" dirty="0">
                <a:solidFill>
                  <a:srgbClr val="FF0000"/>
                </a:solidFill>
                <a:latin typeface="Open Sans" panose="020B0606030504020204" pitchFamily="34" charset="0"/>
              </a:rPr>
              <a:t>Other examples?</a:t>
            </a:r>
          </a:p>
          <a:p>
            <a:pPr lvl="1"/>
            <a:r>
              <a:rPr lang="en-US" sz="1600" b="1" dirty="0">
                <a:solidFill>
                  <a:srgbClr val="FF0000"/>
                </a:solidFill>
                <a:latin typeface="Open Sans" panose="020B0606030504020204" pitchFamily="34" charset="0"/>
              </a:rPr>
              <a:t>Pound vs. Kilogram</a:t>
            </a:r>
          </a:p>
          <a:p>
            <a:pPr lvl="1"/>
            <a:r>
              <a:rPr lang="en-US" sz="1600" b="1" dirty="0">
                <a:solidFill>
                  <a:srgbClr val="FF0000"/>
                </a:solidFill>
                <a:latin typeface="Open Sans" panose="020B0606030504020204" pitchFamily="34" charset="0"/>
              </a:rPr>
              <a:t>Inch vs. centimeter</a:t>
            </a:r>
          </a:p>
          <a:p>
            <a:pPr lvl="1"/>
            <a:r>
              <a:rPr lang="en-US" sz="1600" b="1" dirty="0">
                <a:solidFill>
                  <a:srgbClr val="FF0000"/>
                </a:solidFill>
                <a:latin typeface="Open Sans" panose="020B0606030504020204" pitchFamily="34" charset="0"/>
              </a:rPr>
              <a:t>Big Deal? Yes, it is.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45414" y="1825625"/>
            <a:ext cx="2647721" cy="103290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74188" y="3164540"/>
            <a:ext cx="2718947" cy="151503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D6B5A8F-5E40-4AF3-A570-3C6A2E9F80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6726" y="5080680"/>
            <a:ext cx="4869784" cy="1249289"/>
          </a:xfrm>
          <a:prstGeom prst="rect">
            <a:avLst/>
          </a:prstGeom>
          <a:ln>
            <a:solidFill>
              <a:schemeClr val="accent1">
                <a:shade val="50000"/>
              </a:schemeClr>
            </a:solidFill>
          </a:ln>
        </p:spPr>
      </p:pic>
      <p:sp>
        <p:nvSpPr>
          <p:cNvPr id="2" name="Right Arrow 1"/>
          <p:cNvSpPr/>
          <p:nvPr/>
        </p:nvSpPr>
        <p:spPr>
          <a:xfrm>
            <a:off x="528918" y="6271780"/>
            <a:ext cx="515389" cy="26202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40988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32402"/>
          </a:xfrm>
        </p:spPr>
        <p:txBody>
          <a:bodyPr>
            <a:normAutofit fontScale="90000"/>
          </a:bodyPr>
          <a:lstStyle/>
          <a:p>
            <a:r>
              <a:rPr lang="en-US" dirty="0"/>
              <a:t>Side-Note:</a:t>
            </a:r>
          </a:p>
        </p:txBody>
      </p:sp>
      <p:sp>
        <p:nvSpPr>
          <p:cNvPr id="4" name="Rectangle 3"/>
          <p:cNvSpPr/>
          <p:nvPr/>
        </p:nvSpPr>
        <p:spPr>
          <a:xfrm>
            <a:off x="4968240" y="681327"/>
            <a:ext cx="6096000" cy="618630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8.4.4 </a:t>
            </a:r>
            <a:r>
              <a:rPr lang="en-US" b="1" dirty="0"/>
              <a:t>Robot Missions to Mars</a:t>
            </a:r>
          </a:p>
          <a:p>
            <a:r>
              <a:rPr lang="en-US" b="1" dirty="0">
                <a:solidFill>
                  <a:srgbClr val="0000FF"/>
                </a:solidFill>
              </a:rPr>
              <a:t>NASA designed the $125 million Mars Climate Orbiter </a:t>
            </a:r>
            <a:r>
              <a:rPr lang="en-US" dirty="0"/>
              <a:t>to facilitate communications between Earth and automated probes on the surface of Mars, including the Mars Polar Lander. Ironically, the spacecraft was lost because of a miscommunication between two support teams on Earth.</a:t>
            </a:r>
          </a:p>
          <a:p>
            <a:endParaRPr lang="en-US" dirty="0"/>
          </a:p>
          <a:p>
            <a:r>
              <a:rPr lang="en-US" dirty="0"/>
              <a:t>The </a:t>
            </a:r>
            <a:r>
              <a:rPr lang="en-US" dirty="0">
                <a:solidFill>
                  <a:srgbClr val="0000FF"/>
                </a:solidFill>
              </a:rPr>
              <a:t>Lockheed Martin flight operations team in Colorado designed its software to use </a:t>
            </a:r>
            <a:r>
              <a:rPr lang="en-US" b="1" dirty="0">
                <a:solidFill>
                  <a:srgbClr val="FF0000"/>
                </a:solidFill>
              </a:rPr>
              <a:t>English units</a:t>
            </a:r>
            <a:r>
              <a:rPr lang="en-US" dirty="0"/>
              <a:t>. Its program output thrust in terms of </a:t>
            </a:r>
            <a:r>
              <a:rPr lang="en-US" b="1" dirty="0"/>
              <a:t>foot-pounds</a:t>
            </a:r>
            <a:r>
              <a:rPr lang="en-US" dirty="0"/>
              <a:t>. The </a:t>
            </a:r>
            <a:r>
              <a:rPr lang="en-US" dirty="0">
                <a:solidFill>
                  <a:srgbClr val="0000FF"/>
                </a:solidFill>
              </a:rPr>
              <a:t>navigation team at the Jet Propulsion Laboratory in California designed its software to use </a:t>
            </a:r>
            <a:r>
              <a:rPr lang="en-US" b="1" dirty="0">
                <a:solidFill>
                  <a:srgbClr val="FF0000"/>
                </a:solidFill>
              </a:rPr>
              <a:t>metric units</a:t>
            </a:r>
            <a:r>
              <a:rPr lang="en-US" dirty="0"/>
              <a:t>. Its program expected thrust to be input in terms of </a:t>
            </a:r>
            <a:r>
              <a:rPr lang="en-US" dirty="0" err="1"/>
              <a:t>newtons</a:t>
            </a:r>
            <a:r>
              <a:rPr lang="en-US" dirty="0"/>
              <a:t>. One foot-pound equals 4.45 </a:t>
            </a:r>
            <a:r>
              <a:rPr lang="en-US" dirty="0" err="1"/>
              <a:t>newtons</a:t>
            </a:r>
            <a:r>
              <a:rPr lang="en-US" dirty="0"/>
              <a:t>. On September 23, 1999, the Mars Climate Orbiter neared the Red Planet. </a:t>
            </a:r>
          </a:p>
          <a:p>
            <a:endParaRPr lang="en-US" dirty="0"/>
          </a:p>
          <a:p>
            <a:r>
              <a:rPr lang="en-US" dirty="0"/>
              <a:t>When it was time for the spacecraft to </a:t>
            </a:r>
            <a:r>
              <a:rPr lang="en-US" b="1" dirty="0"/>
              <a:t>fire its engine to enter orbit</a:t>
            </a:r>
            <a:r>
              <a:rPr lang="en-US" dirty="0"/>
              <a:t>, the Colorado team supplied thrust information to the California team, which relayed it to the spacecraft. Because of the units mismatch, the </a:t>
            </a:r>
            <a:r>
              <a:rPr lang="en-US" b="1" dirty="0"/>
              <a:t>navigation team specified 4.45 times too much thrust. The </a:t>
            </a:r>
            <a:r>
              <a:rPr lang="en-US" b="1" dirty="0">
                <a:solidFill>
                  <a:srgbClr val="FF0000"/>
                </a:solidFill>
              </a:rPr>
              <a:t>spacecraft flew too close to the surface of Mars and burned up in its atmosphere.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902" y="997528"/>
            <a:ext cx="4212629" cy="516705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06582" y="6164581"/>
            <a:ext cx="18624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Pearson Publisher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F7AE8BF6-7FD7-4884-9264-6D58D6448123}"/>
              </a:ext>
            </a:extLst>
          </p:cNvPr>
          <p:cNvSpPr/>
          <p:nvPr/>
        </p:nvSpPr>
        <p:spPr>
          <a:xfrm>
            <a:off x="6749512" y="798162"/>
            <a:ext cx="1588576" cy="588935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741C272-F520-4C22-AA42-751F1FDE1176}"/>
              </a:ext>
            </a:extLst>
          </p:cNvPr>
          <p:cNvSpPr/>
          <p:nvPr/>
        </p:nvSpPr>
        <p:spPr>
          <a:xfrm>
            <a:off x="7221951" y="2771613"/>
            <a:ext cx="1751567" cy="588935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7DB17C2-8E78-4E35-8E73-DCCE04F26673}"/>
              </a:ext>
            </a:extLst>
          </p:cNvPr>
          <p:cNvSpPr/>
          <p:nvPr/>
        </p:nvSpPr>
        <p:spPr>
          <a:xfrm>
            <a:off x="4678680" y="3480013"/>
            <a:ext cx="1751567" cy="588935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E8D42C21-20AC-4DF0-8AD7-28C5FC634CA2}"/>
              </a:ext>
            </a:extLst>
          </p:cNvPr>
          <p:cNvSpPr/>
          <p:nvPr/>
        </p:nvSpPr>
        <p:spPr>
          <a:xfrm rot="1166641">
            <a:off x="4599296" y="6308208"/>
            <a:ext cx="368944" cy="369332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DC8E261-4B89-4A5B-897D-4836D9060077}"/>
              </a:ext>
            </a:extLst>
          </p:cNvPr>
          <p:cNvSpPr/>
          <p:nvPr/>
        </p:nvSpPr>
        <p:spPr>
          <a:xfrm>
            <a:off x="6096000" y="6483238"/>
            <a:ext cx="1219200" cy="374762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58278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E224AB-D54E-D1B0-4F80-63F4D1D001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87745"/>
            <a:ext cx="10515600" cy="1325563"/>
          </a:xfrm>
        </p:spPr>
        <p:txBody>
          <a:bodyPr/>
          <a:lstStyle/>
          <a:p>
            <a:r>
              <a:rPr lang="en-US" dirty="0"/>
              <a:t>A more </a:t>
            </a:r>
            <a:r>
              <a:rPr lang="en-US" b="1" dirty="0">
                <a:solidFill>
                  <a:srgbClr val="0000FF"/>
                </a:solidFill>
              </a:rPr>
              <a:t>complex</a:t>
            </a:r>
            <a:r>
              <a:rPr lang="en-US" dirty="0">
                <a:solidFill>
                  <a:srgbClr val="0000FF"/>
                </a:solidFill>
              </a:rPr>
              <a:t> project</a:t>
            </a:r>
            <a:r>
              <a:rPr lang="en-US" dirty="0"/>
              <a:t>. This project will check the </a:t>
            </a:r>
            <a:r>
              <a:rPr lang="en-US" b="1" dirty="0">
                <a:solidFill>
                  <a:srgbClr val="0000FF"/>
                </a:solidFill>
              </a:rPr>
              <a:t>temperature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9466B6-ECED-5986-4299-E4B0522A3E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503" y="1327355"/>
            <a:ext cx="7976697" cy="5442900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Using the </a:t>
            </a:r>
            <a:r>
              <a:rPr lang="en-US" dirty="0">
                <a:solidFill>
                  <a:srgbClr val="0000FF"/>
                </a:solidFill>
              </a:rPr>
              <a:t>onboard temperature sensor </a:t>
            </a:r>
            <a:r>
              <a:rPr lang="en-US" dirty="0"/>
              <a:t>of the Sense HAT. It will save the </a:t>
            </a:r>
            <a:r>
              <a:rPr lang="en-US" dirty="0">
                <a:solidFill>
                  <a:srgbClr val="0000FF"/>
                </a:solidFill>
              </a:rPr>
              <a:t>temperature</a:t>
            </a:r>
            <a:r>
              <a:rPr lang="en-US" dirty="0"/>
              <a:t> to a </a:t>
            </a:r>
            <a:r>
              <a:rPr lang="en-US" b="1" i="1" dirty="0">
                <a:solidFill>
                  <a:srgbClr val="0000FF"/>
                </a:solidFill>
              </a:rPr>
              <a:t>variable</a:t>
            </a:r>
            <a:r>
              <a:rPr lang="en-US" dirty="0"/>
              <a:t>,              , then </a:t>
            </a:r>
            <a:r>
              <a:rPr lang="en-US" dirty="0">
                <a:solidFill>
                  <a:srgbClr val="C00000"/>
                </a:solidFill>
              </a:rPr>
              <a:t>compare</a:t>
            </a:r>
            <a:r>
              <a:rPr lang="en-US" dirty="0"/>
              <a:t> that variable to see if it is </a:t>
            </a:r>
            <a:r>
              <a:rPr lang="en-US" b="1" dirty="0">
                <a:solidFill>
                  <a:srgbClr val="0000FF"/>
                </a:solidFill>
              </a:rPr>
              <a:t>greater</a:t>
            </a:r>
            <a:r>
              <a:rPr lang="en-US" dirty="0"/>
              <a:t> than </a:t>
            </a:r>
            <a:r>
              <a:rPr lang="en-US" dirty="0">
                <a:solidFill>
                  <a:srgbClr val="FF0000"/>
                </a:solidFill>
              </a:rPr>
              <a:t>20 degrees Celsius</a:t>
            </a:r>
            <a:r>
              <a:rPr lang="en-US" dirty="0"/>
              <a:t>. If so, then the </a:t>
            </a:r>
            <a:r>
              <a:rPr lang="en-US" b="1" dirty="0"/>
              <a:t>text scrolling across </a:t>
            </a:r>
            <a:r>
              <a:rPr lang="en-US" dirty="0"/>
              <a:t>the Sense HAT will be in </a:t>
            </a:r>
            <a:r>
              <a:rPr lang="en-US" b="1" dirty="0">
                <a:solidFill>
                  <a:srgbClr val="FF0000"/>
                </a:solidFill>
              </a:rPr>
              <a:t>Red</a:t>
            </a:r>
            <a:r>
              <a:rPr lang="en-US" dirty="0"/>
              <a:t>. If below </a:t>
            </a:r>
            <a:r>
              <a:rPr lang="en-US" dirty="0">
                <a:solidFill>
                  <a:srgbClr val="FF0000"/>
                </a:solidFill>
              </a:rPr>
              <a:t>20C</a:t>
            </a:r>
            <a:r>
              <a:rPr lang="en-US" dirty="0"/>
              <a:t> then it will be </a:t>
            </a:r>
            <a:r>
              <a:rPr lang="en-US" b="1" dirty="0">
                <a:solidFill>
                  <a:srgbClr val="0070C0"/>
                </a:solidFill>
              </a:rPr>
              <a:t>Blue</a:t>
            </a:r>
            <a:r>
              <a:rPr lang="en-US" dirty="0"/>
              <a:t>.</a:t>
            </a:r>
          </a:p>
          <a:p>
            <a:endParaRPr lang="en-US" sz="1200" dirty="0"/>
          </a:p>
          <a:p>
            <a:pPr marL="514350" indent="-514350">
              <a:buFont typeface="+mj-lt"/>
              <a:buAutoNum type="arabicPeriod"/>
            </a:pPr>
            <a:r>
              <a:rPr lang="en-US" b="1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Drag the “</a:t>
            </a:r>
            <a:r>
              <a:rPr lang="en-US" b="1" i="0" dirty="0">
                <a:solidFill>
                  <a:srgbClr val="00B050"/>
                </a:solidFill>
                <a:effectLst/>
                <a:latin typeface="Open Sans" panose="020B0606030504020204" pitchFamily="34" charset="0"/>
              </a:rPr>
              <a:t>When joystick pushed up</a:t>
            </a:r>
            <a:r>
              <a:rPr lang="en-US" b="1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”</a:t>
            </a:r>
            <a:r>
              <a:rPr lang="en-US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 into the coding area.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>
                <a:solidFill>
                  <a:srgbClr val="333333"/>
                </a:solidFill>
                <a:latin typeface="Open Sans" panose="020B0606030504020204" pitchFamily="34" charset="0"/>
              </a:rPr>
              <a:t>Add the "</a:t>
            </a:r>
            <a:r>
              <a:rPr lang="en-US" b="1" dirty="0">
                <a:solidFill>
                  <a:srgbClr val="0000FF"/>
                </a:solidFill>
                <a:latin typeface="Open Sans" panose="020B0606030504020204" pitchFamily="34" charset="0"/>
              </a:rPr>
              <a:t>If, then, else” </a:t>
            </a:r>
            <a:r>
              <a:rPr lang="en-US" b="1" dirty="0">
                <a:solidFill>
                  <a:srgbClr val="333333"/>
                </a:solidFill>
                <a:latin typeface="Open Sans" panose="020B0606030504020204" pitchFamily="34" charset="0"/>
              </a:rPr>
              <a:t>block</a:t>
            </a:r>
            <a:r>
              <a:rPr lang="en-US" dirty="0">
                <a:solidFill>
                  <a:srgbClr val="333333"/>
                </a:solidFill>
                <a:latin typeface="Open Sans" panose="020B0606030504020204" pitchFamily="34" charset="0"/>
              </a:rPr>
              <a:t> and connect it to the previous block.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>
                <a:solidFill>
                  <a:srgbClr val="333333"/>
                </a:solidFill>
                <a:latin typeface="Open Sans" panose="020B0606030504020204" pitchFamily="34" charset="0"/>
              </a:rPr>
              <a:t>Drag </a:t>
            </a:r>
            <a:r>
              <a:rPr lang="en-US" b="1" dirty="0">
                <a:solidFill>
                  <a:srgbClr val="0000FF"/>
                </a:solidFill>
                <a:latin typeface="Open Sans" panose="020B0606030504020204" pitchFamily="34" charset="0"/>
              </a:rPr>
              <a:t>“_ &gt; 50</a:t>
            </a:r>
            <a:r>
              <a:rPr lang="en-US" b="1" dirty="0">
                <a:solidFill>
                  <a:srgbClr val="333333"/>
                </a:solidFill>
                <a:latin typeface="Open Sans" panose="020B0606030504020204" pitchFamily="34" charset="0"/>
              </a:rPr>
              <a:t>” </a:t>
            </a:r>
            <a:r>
              <a:rPr lang="en-US" dirty="0">
                <a:solidFill>
                  <a:srgbClr val="333333"/>
                </a:solidFill>
                <a:latin typeface="Open Sans" panose="020B0606030504020204" pitchFamily="34" charset="0"/>
              </a:rPr>
              <a:t>and </a:t>
            </a:r>
            <a:r>
              <a:rPr lang="en-US" b="1" dirty="0">
                <a:solidFill>
                  <a:srgbClr val="333333"/>
                </a:solidFill>
                <a:latin typeface="Open Sans" panose="020B0606030504020204" pitchFamily="34" charset="0"/>
              </a:rPr>
              <a:t>place it inside the </a:t>
            </a:r>
            <a:r>
              <a:rPr lang="en-US" b="1" dirty="0">
                <a:solidFill>
                  <a:srgbClr val="00B050"/>
                </a:solidFill>
                <a:latin typeface="Open Sans" panose="020B0606030504020204" pitchFamily="34" charset="0"/>
              </a:rPr>
              <a:t>blank</a:t>
            </a:r>
            <a:r>
              <a:rPr lang="en-US" b="1" dirty="0">
                <a:solidFill>
                  <a:srgbClr val="333333"/>
                </a:solidFill>
                <a:latin typeface="Open Sans" panose="020B0606030504020204" pitchFamily="34" charset="0"/>
              </a:rPr>
              <a:t> shape </a:t>
            </a:r>
            <a:r>
              <a:rPr lang="en-US" dirty="0">
                <a:solidFill>
                  <a:srgbClr val="333333"/>
                </a:solidFill>
                <a:latin typeface="Open Sans" panose="020B0606030504020204" pitchFamily="34" charset="0"/>
              </a:rPr>
              <a:t>between “if and then,”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>
                <a:solidFill>
                  <a:srgbClr val="333333"/>
                </a:solidFill>
                <a:latin typeface="Open Sans" panose="020B0606030504020204" pitchFamily="34" charset="0"/>
              </a:rPr>
              <a:t>Drag the “</a:t>
            </a:r>
            <a:r>
              <a:rPr lang="en-US" b="1" dirty="0">
                <a:solidFill>
                  <a:srgbClr val="0000FF"/>
                </a:solidFill>
                <a:latin typeface="Open Sans" panose="020B0606030504020204" pitchFamily="34" charset="0"/>
              </a:rPr>
              <a:t>temperature</a:t>
            </a:r>
            <a:r>
              <a:rPr lang="en-US" b="1" dirty="0">
                <a:solidFill>
                  <a:srgbClr val="333333"/>
                </a:solidFill>
                <a:latin typeface="Open Sans" panose="020B0606030504020204" pitchFamily="34" charset="0"/>
              </a:rPr>
              <a:t>” variable block </a:t>
            </a:r>
            <a:r>
              <a:rPr lang="en-US" dirty="0">
                <a:solidFill>
                  <a:srgbClr val="333333"/>
                </a:solidFill>
                <a:latin typeface="Open Sans" panose="020B0606030504020204" pitchFamily="34" charset="0"/>
              </a:rPr>
              <a:t>and place it over the </a:t>
            </a:r>
            <a:r>
              <a:rPr lang="en-US" dirty="0">
                <a:solidFill>
                  <a:srgbClr val="C00000"/>
                </a:solidFill>
                <a:latin typeface="Open Sans" panose="020B0606030504020204" pitchFamily="34" charset="0"/>
              </a:rPr>
              <a:t>first</a:t>
            </a:r>
            <a:r>
              <a:rPr lang="en-US" dirty="0">
                <a:solidFill>
                  <a:srgbClr val="333333"/>
                </a:solidFill>
                <a:latin typeface="Open Sans" panose="020B0606030504020204" pitchFamily="34" charset="0"/>
              </a:rPr>
              <a:t> </a:t>
            </a:r>
            <a:r>
              <a:rPr lang="en-US" dirty="0">
                <a:solidFill>
                  <a:srgbClr val="C00000"/>
                </a:solidFill>
                <a:latin typeface="Open Sans" panose="020B0606030504020204" pitchFamily="34" charset="0"/>
              </a:rPr>
              <a:t>blank</a:t>
            </a:r>
            <a:r>
              <a:rPr lang="en-US" dirty="0">
                <a:solidFill>
                  <a:srgbClr val="333333"/>
                </a:solidFill>
                <a:latin typeface="Open Sans" panose="020B0606030504020204" pitchFamily="34" charset="0"/>
              </a:rPr>
              <a:t> </a:t>
            </a:r>
            <a:r>
              <a:rPr lang="en-US" dirty="0">
                <a:solidFill>
                  <a:srgbClr val="00B050"/>
                </a:solidFill>
                <a:latin typeface="Open Sans" panose="020B0606030504020204" pitchFamily="34" charset="0"/>
              </a:rPr>
              <a:t>of “_ &gt; 50” </a:t>
            </a:r>
            <a:r>
              <a:rPr lang="en-US" dirty="0">
                <a:solidFill>
                  <a:srgbClr val="333333"/>
                </a:solidFill>
                <a:latin typeface="Open Sans" panose="020B0606030504020204" pitchFamily="34" charset="0"/>
              </a:rPr>
              <a:t>and then change the </a:t>
            </a:r>
            <a:r>
              <a:rPr lang="en-US" dirty="0">
                <a:solidFill>
                  <a:srgbClr val="00B050"/>
                </a:solidFill>
                <a:latin typeface="Open Sans" panose="020B0606030504020204" pitchFamily="34" charset="0"/>
              </a:rPr>
              <a:t>50</a:t>
            </a:r>
            <a:r>
              <a:rPr lang="en-US" dirty="0">
                <a:solidFill>
                  <a:srgbClr val="333333"/>
                </a:solidFill>
                <a:latin typeface="Open Sans" panose="020B0606030504020204" pitchFamily="34" charset="0"/>
              </a:rPr>
              <a:t> to </a:t>
            </a:r>
            <a:r>
              <a:rPr lang="en-US" b="1" dirty="0">
                <a:solidFill>
                  <a:srgbClr val="0000FF"/>
                </a:solidFill>
                <a:latin typeface="Open Sans" panose="020B0606030504020204" pitchFamily="34" charset="0"/>
              </a:rPr>
              <a:t>20</a:t>
            </a:r>
            <a:endParaRPr lang="en-US" dirty="0">
              <a:solidFill>
                <a:srgbClr val="333333"/>
              </a:solidFill>
              <a:latin typeface="Open Sans" panose="020B0606030504020204" pitchFamily="34" charset="0"/>
            </a:endParaRPr>
          </a:p>
          <a:p>
            <a:pPr marL="514350" indent="-514350">
              <a:buFont typeface="+mj-lt"/>
              <a:buAutoNum type="arabicPeriod"/>
            </a:pPr>
            <a:endParaRPr lang="en-US" b="0" i="0" dirty="0">
              <a:solidFill>
                <a:srgbClr val="333333"/>
              </a:solidFill>
              <a:effectLst/>
              <a:latin typeface="Open Sans" panose="020B0606030504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822A35C-993E-D1EF-4A9F-0D48F0CE32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9276" y="1635769"/>
            <a:ext cx="1005032" cy="389883"/>
          </a:xfrm>
          <a:prstGeom prst="rect">
            <a:avLst/>
          </a:prstGeom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9DDEFB4C-E9DB-444F-B2B3-CBEFA94CA8B3}"/>
              </a:ext>
            </a:extLst>
          </p:cNvPr>
          <p:cNvSpPr/>
          <p:nvPr/>
        </p:nvSpPr>
        <p:spPr>
          <a:xfrm>
            <a:off x="11100734" y="87745"/>
            <a:ext cx="784225" cy="825067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5750" y="2678786"/>
            <a:ext cx="4097991" cy="4067175"/>
          </a:xfrm>
          <a:prstGeom prst="rect">
            <a:avLst/>
          </a:prstGeom>
        </p:spPr>
      </p:pic>
      <p:cxnSp>
        <p:nvCxnSpPr>
          <p:cNvPr id="11" name="Straight Arrow Connector 10"/>
          <p:cNvCxnSpPr/>
          <p:nvPr/>
        </p:nvCxnSpPr>
        <p:spPr>
          <a:xfrm flipV="1">
            <a:off x="3424518" y="3666565"/>
            <a:ext cx="5351929" cy="195430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 flipV="1">
            <a:off x="7055224" y="3720353"/>
            <a:ext cx="3459722" cy="227703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09881" y="6233215"/>
            <a:ext cx="2730313" cy="56832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D6B5A8F-5E40-4AF3-A570-3C6A2E9F80E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94807" y="1757980"/>
            <a:ext cx="2908934" cy="746255"/>
          </a:xfrm>
          <a:prstGeom prst="rect">
            <a:avLst/>
          </a:prstGeom>
          <a:ln>
            <a:solidFill>
              <a:schemeClr val="accent1">
                <a:shade val="50000"/>
              </a:schemeClr>
            </a:solidFill>
          </a:ln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211B197A-CF63-4E85-8173-0732A3EBFDEC}"/>
              </a:ext>
            </a:extLst>
          </p:cNvPr>
          <p:cNvSpPr/>
          <p:nvPr/>
        </p:nvSpPr>
        <p:spPr>
          <a:xfrm>
            <a:off x="8864133" y="2947486"/>
            <a:ext cx="1650813" cy="395893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58348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E224AB-D54E-D1B0-4F80-63F4D1D001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87745"/>
            <a:ext cx="10515600" cy="1325563"/>
          </a:xfrm>
        </p:spPr>
        <p:txBody>
          <a:bodyPr/>
          <a:lstStyle/>
          <a:p>
            <a:r>
              <a:rPr lang="en-US" dirty="0"/>
              <a:t>A more </a:t>
            </a:r>
            <a:r>
              <a:rPr lang="en-US" b="1" dirty="0">
                <a:solidFill>
                  <a:srgbClr val="0000FF"/>
                </a:solidFill>
              </a:rPr>
              <a:t>complex</a:t>
            </a:r>
            <a:r>
              <a:rPr lang="en-US" dirty="0">
                <a:solidFill>
                  <a:srgbClr val="0000FF"/>
                </a:solidFill>
              </a:rPr>
              <a:t> project</a:t>
            </a:r>
            <a:r>
              <a:rPr lang="en-US" dirty="0"/>
              <a:t>. This project will check the </a:t>
            </a:r>
            <a:r>
              <a:rPr lang="en-US" b="1" dirty="0">
                <a:solidFill>
                  <a:srgbClr val="0000FF"/>
                </a:solidFill>
              </a:rPr>
              <a:t>temperature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9466B6-ECED-5986-4299-E4B0522A3E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504" y="1327355"/>
            <a:ext cx="6494026" cy="54429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333333"/>
                </a:solidFill>
                <a:latin typeface="Open Sans" panose="020B0606030504020204" pitchFamily="34" charset="0"/>
              </a:rPr>
              <a:t>5. </a:t>
            </a:r>
            <a:r>
              <a:rPr lang="en-US" dirty="0">
                <a:solidFill>
                  <a:srgbClr val="0000FF"/>
                </a:solidFill>
                <a:latin typeface="Open Sans" panose="020B0606030504020204" pitchFamily="34" charset="0"/>
              </a:rPr>
              <a:t>Complete</a:t>
            </a:r>
            <a:r>
              <a:rPr lang="en-US" dirty="0">
                <a:solidFill>
                  <a:srgbClr val="333333"/>
                </a:solidFill>
                <a:latin typeface="Open Sans" panose="020B0606030504020204" pitchFamily="34" charset="0"/>
              </a:rPr>
              <a:t> the rest of the code.</a:t>
            </a:r>
          </a:p>
          <a:p>
            <a:pPr marL="0" indent="0">
              <a:buNone/>
            </a:pPr>
            <a:r>
              <a:rPr lang="en-US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6. </a:t>
            </a:r>
            <a:r>
              <a:rPr lang="en-US" b="0" i="0" dirty="0">
                <a:solidFill>
                  <a:srgbClr val="0000FF"/>
                </a:solidFill>
                <a:effectLst/>
                <a:latin typeface="Open Sans" panose="020B0606030504020204" pitchFamily="34" charset="0"/>
              </a:rPr>
              <a:t>Test</a:t>
            </a:r>
            <a:r>
              <a:rPr lang="en-US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 and </a:t>
            </a:r>
            <a:r>
              <a:rPr lang="en-US" b="0" i="0" dirty="0">
                <a:solidFill>
                  <a:srgbClr val="0000FF"/>
                </a:solidFill>
                <a:effectLst/>
                <a:latin typeface="Open Sans" panose="020B0606030504020204" pitchFamily="34" charset="0"/>
              </a:rPr>
              <a:t>Debug</a:t>
            </a:r>
            <a:r>
              <a:rPr lang="en-US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, if any.</a:t>
            </a:r>
          </a:p>
          <a:p>
            <a:pPr marL="0" indent="0">
              <a:buNone/>
            </a:pPr>
            <a:r>
              <a:rPr lang="en-US" dirty="0">
                <a:solidFill>
                  <a:srgbClr val="333333"/>
                </a:solidFill>
                <a:latin typeface="Open Sans" panose="020B0606030504020204" pitchFamily="34" charset="0"/>
              </a:rPr>
              <a:t>   * make sure the </a:t>
            </a:r>
            <a:r>
              <a:rPr lang="en-US" b="1" dirty="0">
                <a:solidFill>
                  <a:srgbClr val="00B0F0"/>
                </a:solidFill>
                <a:latin typeface="Open Sans" panose="020B0606030504020204" pitchFamily="34" charset="0"/>
              </a:rPr>
              <a:t>blue-text </a:t>
            </a:r>
            <a:r>
              <a:rPr lang="en-US" dirty="0">
                <a:solidFill>
                  <a:srgbClr val="333333"/>
                </a:solidFill>
                <a:latin typeface="Open Sans" panose="020B0606030504020204" pitchFamily="34" charset="0"/>
              </a:rPr>
              <a:t>will be displayed too.</a:t>
            </a:r>
            <a:endParaRPr lang="en-US" b="0" i="0" dirty="0">
              <a:solidFill>
                <a:srgbClr val="333333"/>
              </a:solidFill>
              <a:effectLst/>
              <a:latin typeface="Open Sans" panose="020B0606030504020204" pitchFamily="34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333333"/>
                </a:solidFill>
                <a:latin typeface="Open Sans" panose="020B0606030504020204" pitchFamily="34" charset="0"/>
              </a:rPr>
              <a:t>7. Something is not quite right!</a:t>
            </a:r>
          </a:p>
          <a:p>
            <a:pPr marL="0" indent="0">
              <a:buNone/>
            </a:pPr>
            <a:r>
              <a:rPr lang="en-US" sz="3200" b="1" dirty="0">
                <a:solidFill>
                  <a:srgbClr val="FF0000"/>
                </a:solidFill>
                <a:latin typeface="Open Sans" panose="020B0606030504020204" pitchFamily="34" charset="0"/>
              </a:rPr>
              <a:t>Why?</a:t>
            </a:r>
          </a:p>
          <a:p>
            <a:pPr marL="0" indent="0">
              <a:buNone/>
            </a:pPr>
            <a:r>
              <a:rPr lang="en-US" sz="3200" b="1" dirty="0">
                <a:solidFill>
                  <a:srgbClr val="FF0000"/>
                </a:solidFill>
                <a:latin typeface="Open Sans" panose="020B0606030504020204" pitchFamily="34" charset="0"/>
              </a:rPr>
              <a:t>   </a:t>
            </a:r>
            <a:r>
              <a:rPr lang="en-US" b="1" dirty="0">
                <a:solidFill>
                  <a:srgbClr val="FF0000"/>
                </a:solidFill>
                <a:latin typeface="Open Sans" panose="020B0606030504020204" pitchFamily="34" charset="0"/>
              </a:rPr>
              <a:t>We are in Your-City, not UK, </a:t>
            </a:r>
            <a:r>
              <a:rPr lang="en-US" sz="3200" b="1" dirty="0">
                <a:solidFill>
                  <a:srgbClr val="FF0000"/>
                </a:solidFill>
                <a:latin typeface="Open Sans" panose="020B0606030504020204" pitchFamily="34" charset="0"/>
              </a:rPr>
              <a:t>so …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9DDEFB4C-E9DB-444F-B2B3-CBEFA94CA8B3}"/>
              </a:ext>
            </a:extLst>
          </p:cNvPr>
          <p:cNvSpPr/>
          <p:nvPr/>
        </p:nvSpPr>
        <p:spPr>
          <a:xfrm>
            <a:off x="11150506" y="87745"/>
            <a:ext cx="784225" cy="825067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11B197A-CF63-4E85-8173-0732A3EBFDEC}"/>
              </a:ext>
            </a:extLst>
          </p:cNvPr>
          <p:cNvSpPr/>
          <p:nvPr/>
        </p:nvSpPr>
        <p:spPr>
          <a:xfrm>
            <a:off x="10857611" y="90024"/>
            <a:ext cx="1370013" cy="825067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5896" y="1038769"/>
            <a:ext cx="5111657" cy="5073218"/>
          </a:xfrm>
          <a:prstGeom prst="rect">
            <a:avLst/>
          </a:prstGeom>
        </p:spPr>
      </p:pic>
      <p:cxnSp>
        <p:nvCxnSpPr>
          <p:cNvPr id="11" name="Straight Arrow Connector 10"/>
          <p:cNvCxnSpPr>
            <a:cxnSpLocks/>
          </p:cNvCxnSpPr>
          <p:nvPr/>
        </p:nvCxnSpPr>
        <p:spPr>
          <a:xfrm>
            <a:off x="3626603" y="2779059"/>
            <a:ext cx="5044699" cy="170329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Picture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623" y="4860914"/>
            <a:ext cx="2247909" cy="1252566"/>
          </a:xfrm>
          <a:prstGeom prst="rect">
            <a:avLst/>
          </a:prstGeom>
        </p:spPr>
      </p:pic>
      <p:cxnSp>
        <p:nvCxnSpPr>
          <p:cNvPr id="16" name="Straight Arrow Connector 15"/>
          <p:cNvCxnSpPr/>
          <p:nvPr/>
        </p:nvCxnSpPr>
        <p:spPr>
          <a:xfrm flipV="1">
            <a:off x="1479176" y="2372082"/>
            <a:ext cx="8417859" cy="333212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 flipH="1">
            <a:off x="1479176" y="4482353"/>
            <a:ext cx="510989" cy="122184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733223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14046" y="746312"/>
            <a:ext cx="6539753" cy="5430651"/>
          </a:xfrm>
        </p:spPr>
        <p:txBody>
          <a:bodyPr/>
          <a:lstStyle/>
          <a:p>
            <a:r>
              <a:rPr lang="en-US" dirty="0"/>
              <a:t>Applications in life?</a:t>
            </a:r>
          </a:p>
          <a:p>
            <a:pPr lvl="1"/>
            <a:r>
              <a:rPr lang="en-US" dirty="0"/>
              <a:t>Alarm, Gauge (</a:t>
            </a:r>
            <a:r>
              <a:rPr lang="en-US" dirty="0">
                <a:solidFill>
                  <a:srgbClr val="FF0000"/>
                </a:solidFill>
              </a:rPr>
              <a:t>Red</a:t>
            </a:r>
            <a:r>
              <a:rPr lang="en-US" dirty="0"/>
              <a:t>/</a:t>
            </a:r>
            <a:r>
              <a:rPr lang="en-US" dirty="0">
                <a:solidFill>
                  <a:srgbClr val="0000FF"/>
                </a:solidFill>
              </a:rPr>
              <a:t>Blue</a:t>
            </a:r>
            <a:r>
              <a:rPr lang="en-US" dirty="0"/>
              <a:t>/</a:t>
            </a:r>
            <a:r>
              <a:rPr lang="en-US" dirty="0">
                <a:solidFill>
                  <a:srgbClr val="00B050"/>
                </a:solidFill>
              </a:rPr>
              <a:t>Green</a:t>
            </a:r>
            <a:r>
              <a:rPr lang="en-US" dirty="0"/>
              <a:t>/?) or</a:t>
            </a:r>
          </a:p>
          <a:p>
            <a:pPr lvl="2"/>
            <a:r>
              <a:rPr lang="en-US" dirty="0"/>
              <a:t>Colored-Coded</a:t>
            </a:r>
          </a:p>
          <a:p>
            <a:pPr lvl="1"/>
            <a:r>
              <a:rPr lang="en-US" dirty="0"/>
              <a:t>Fire? </a:t>
            </a:r>
          </a:p>
          <a:p>
            <a:pPr lvl="2"/>
            <a:r>
              <a:rPr lang="en-US" dirty="0"/>
              <a:t>Sound the Alarm or …</a:t>
            </a:r>
          </a:p>
          <a:p>
            <a:pPr lvl="1"/>
            <a:r>
              <a:rPr lang="en-US" dirty="0"/>
              <a:t>Notification (text, email, …)?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632" y="746312"/>
            <a:ext cx="4569802" cy="4324991"/>
          </a:xfrm>
          <a:prstGeom prst="rect">
            <a:avLst/>
          </a:prstGeo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211B197A-CF63-4E85-8173-0732A3EBFDEC}"/>
              </a:ext>
            </a:extLst>
          </p:cNvPr>
          <p:cNvSpPr/>
          <p:nvPr/>
        </p:nvSpPr>
        <p:spPr>
          <a:xfrm>
            <a:off x="2868706" y="1398494"/>
            <a:ext cx="618565" cy="704727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98359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7B1C72-6E66-C784-97DA-8D072301D9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6356" y="352136"/>
            <a:ext cx="11925997" cy="5862927"/>
          </a:xfrm>
        </p:spPr>
        <p:txBody>
          <a:bodyPr>
            <a:normAutofit/>
          </a:bodyPr>
          <a:lstStyle/>
          <a:p>
            <a:r>
              <a:rPr lang="en-US" dirty="0"/>
              <a:t>Author’s original code.                                   I like to keep it simple for beginners.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7218258-A01D-B6E2-CC4F-86282D1458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259" y="775048"/>
            <a:ext cx="6023893" cy="600263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5726" y="775048"/>
            <a:ext cx="4569802" cy="4324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21989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7A8143-CB71-4D24-F136-BD4555E169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/>
              <a:t>Challenge for you</a:t>
            </a:r>
            <a:r>
              <a:rPr lang="en-US" sz="4000" dirty="0"/>
              <a:t>, not homework!</a:t>
            </a:r>
            <a:br>
              <a:rPr lang="en-US" sz="4000" dirty="0"/>
            </a:br>
            <a:r>
              <a:rPr lang="en-US" sz="4000" dirty="0"/>
              <a:t>   Conversion between temperature units (C vs. F)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78A2DC-2B4B-BEB1-08E1-F2324833EB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it-IT" sz="3600" dirty="0"/>
              <a:t>Formula: degree_C  x 9/5 +32 =&gt; degree_F</a:t>
            </a:r>
          </a:p>
          <a:p>
            <a:pPr lvl="1"/>
            <a:r>
              <a:rPr lang="it-IT" sz="3200" dirty="0"/>
              <a:t>(0°C × 9/5) + 32 = 32°F</a:t>
            </a:r>
          </a:p>
          <a:p>
            <a:endParaRPr lang="en-US" sz="36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21039C6-0511-C428-CBB0-EC419F9D8E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454" y="3399682"/>
            <a:ext cx="676275" cy="5429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69E8E0A-562F-2EFB-CE74-954C4E49F0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5792" y="3187042"/>
            <a:ext cx="1599715" cy="283949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5E26C1B-C526-B5F1-52E1-1DE6143749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30935" y="3623059"/>
            <a:ext cx="1276350" cy="93345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D6B5A8F-5E40-4AF3-A570-3C6A2E9F80E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19667" y="2823882"/>
            <a:ext cx="6605340" cy="1694527"/>
          </a:xfrm>
          <a:prstGeom prst="rect">
            <a:avLst/>
          </a:prstGeom>
          <a:ln>
            <a:solidFill>
              <a:schemeClr val="accent1">
                <a:shade val="50000"/>
              </a:schemeClr>
            </a:solidFill>
          </a:ln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493C16E8-126A-4EB7-8C94-3CF50F2A00FE}"/>
              </a:ext>
            </a:extLst>
          </p:cNvPr>
          <p:cNvSpPr/>
          <p:nvPr/>
        </p:nvSpPr>
        <p:spPr>
          <a:xfrm>
            <a:off x="5949664" y="4606789"/>
            <a:ext cx="6096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900" dirty="0">
                <a:hlinkClick r:id="rId6"/>
              </a:rPr>
              <a:t>https://www.google.com/search?q=celsius+to+fahrenheit&amp;rlz=1C1GCEU_enUS861US861&amp;oq=celsi&amp;aqs=chrome.0.35i39j69i57j0i131i433i512l2j46i131i199i433i465i512j0i433i512l3j0i131i433l2.3319j0j15&amp;sourceid=chrome&amp;ie=UTF-8</a:t>
            </a:r>
            <a:r>
              <a:rPr lang="en-US" sz="9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6036195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6165F3-0C3C-DCD1-1F7B-E2F2F7257B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60ABDE-5446-E7A2-891A-669F46E8FB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 just shared </a:t>
            </a:r>
            <a:r>
              <a:rPr lang="en-US" dirty="0">
                <a:highlight>
                  <a:srgbClr val="FFFF00"/>
                </a:highlight>
              </a:rPr>
              <a:t>partial teaching materials</a:t>
            </a:r>
            <a:r>
              <a:rPr lang="en-US" dirty="0"/>
              <a:t>. Please refer to [1] below to develop more Hands-on projects or activities </a:t>
            </a:r>
            <a:r>
              <a:rPr lang="en-US" dirty="0">
                <a:highlight>
                  <a:srgbClr val="FFFF00"/>
                </a:highlight>
              </a:rPr>
              <a:t>to meet your needs</a:t>
            </a:r>
            <a:r>
              <a:rPr lang="en-US" dirty="0"/>
              <a:t>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Reference:</a:t>
            </a:r>
          </a:p>
          <a:p>
            <a:r>
              <a:rPr lang="en-US" dirty="0">
                <a:solidFill>
                  <a:srgbClr val="333333"/>
                </a:solidFill>
                <a:latin typeface="Open Sans" panose="020B0606030504020204" pitchFamily="34" charset="0"/>
              </a:rPr>
              <a:t>[1] 3 Simple Raspberry Pi Sense HAT Projects for Kids and Families, By </a:t>
            </a:r>
            <a:r>
              <a:rPr lang="en-US" dirty="0">
                <a:solidFill>
                  <a:srgbClr val="101F9E"/>
                </a:solidFill>
                <a:latin typeface="inherit"/>
                <a:hlinkClick r:id="rId2"/>
              </a:rPr>
              <a:t>Les Pounder </a:t>
            </a:r>
            <a:r>
              <a:rPr lang="en-US" dirty="0">
                <a:solidFill>
                  <a:srgbClr val="333333"/>
                </a:solidFill>
                <a:latin typeface="Open Sans" panose="020B0606030504020204" pitchFamily="34" charset="0"/>
              </a:rPr>
              <a:t>published </a:t>
            </a:r>
            <a:r>
              <a:rPr lang="en-US" dirty="0"/>
              <a:t>May 03, 2020,</a:t>
            </a:r>
          </a:p>
          <a:p>
            <a:pPr lvl="1"/>
            <a:r>
              <a:rPr lang="en-US" dirty="0">
                <a:hlinkClick r:id="rId3"/>
              </a:rPr>
              <a:t>https://www.tomshardware.com/how-to/raspberry-pi-sense-hat-projects-for-kids</a:t>
            </a:r>
            <a:r>
              <a:rPr lang="en-US" dirty="0"/>
              <a:t> </a:t>
            </a:r>
          </a:p>
          <a:p>
            <a:endParaRPr lang="en-US" dirty="0"/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F30A05FC-1A6F-6302-011F-16C919F02F6B}"/>
              </a:ext>
            </a:extLst>
          </p:cNvPr>
          <p:cNvSpPr/>
          <p:nvPr/>
        </p:nvSpPr>
        <p:spPr>
          <a:xfrm rot="820125">
            <a:off x="256595" y="1740989"/>
            <a:ext cx="488373" cy="52272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30146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6E541D-2884-7767-7823-1436BBC711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52FBC6E-2A0B-6CD8-050F-07DC927B40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026" y="1500948"/>
            <a:ext cx="7902846" cy="456694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D6C27C3-E72C-51DE-C943-22F7D188F2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6606" y="4626126"/>
            <a:ext cx="4052119" cy="205934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6552893-0DCD-6E1E-7562-5C4A77196D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8587" y="121038"/>
            <a:ext cx="1819275" cy="54292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A355455-A05C-0C5B-4D64-3A699F715BFB}"/>
              </a:ext>
            </a:extLst>
          </p:cNvPr>
          <p:cNvSpPr txBox="1"/>
          <p:nvPr/>
        </p:nvSpPr>
        <p:spPr>
          <a:xfrm>
            <a:off x="157739" y="1100838"/>
            <a:ext cx="457990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Cayenne </a:t>
            </a:r>
            <a:r>
              <a:rPr lang="en-US" sz="2000" b="1" dirty="0" err="1"/>
              <a:t>IoT</a:t>
            </a:r>
            <a:r>
              <a:rPr lang="en-US" sz="2000" b="1" dirty="0"/>
              <a:t> (Internet of Things) Platform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221D1A7-C1E4-EB3C-9410-22ABC86DE14D}"/>
              </a:ext>
            </a:extLst>
          </p:cNvPr>
          <p:cNvSpPr/>
          <p:nvPr/>
        </p:nvSpPr>
        <p:spPr>
          <a:xfrm>
            <a:off x="353682" y="6280833"/>
            <a:ext cx="440832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hlinkClick r:id="rId5"/>
              </a:rPr>
              <a:t>https://youtu.be/ovthX9QlVF8?t=7</a:t>
            </a:r>
            <a:r>
              <a:rPr lang="en-US" dirty="0"/>
              <a:t> [4m:03s]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9055D34-03ED-161D-C688-824554B4513A}"/>
              </a:ext>
            </a:extLst>
          </p:cNvPr>
          <p:cNvSpPr txBox="1"/>
          <p:nvPr/>
        </p:nvSpPr>
        <p:spPr>
          <a:xfrm>
            <a:off x="4118449" y="121038"/>
            <a:ext cx="7423519" cy="1077218"/>
          </a:xfrm>
          <a:prstGeom prst="rect">
            <a:avLst/>
          </a:prstGeom>
          <a:noFill/>
          <a:ln w="38100">
            <a:solidFill>
              <a:srgbClr val="0000FF"/>
            </a:solidFill>
          </a:ln>
        </p:spPr>
        <p:txBody>
          <a:bodyPr wrap="square" rtlCol="0">
            <a:spAutoFit/>
          </a:bodyPr>
          <a:lstStyle/>
          <a:p>
            <a:r>
              <a:rPr lang="en-US" sz="3200" b="1" dirty="0"/>
              <a:t>IoT application: Put them all together!</a:t>
            </a:r>
          </a:p>
          <a:p>
            <a:r>
              <a:rPr lang="en-US" sz="3200" b="1" dirty="0"/>
              <a:t>(Scratch, Raspberry Pi, IoT-Things, …)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9808C7D-1DAC-25F4-F58C-E0F9DC536DD0}"/>
              </a:ext>
            </a:extLst>
          </p:cNvPr>
          <p:cNvSpPr txBox="1"/>
          <p:nvPr/>
        </p:nvSpPr>
        <p:spPr>
          <a:xfrm>
            <a:off x="8069872" y="2540317"/>
            <a:ext cx="410708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00FF"/>
                </a:solidFill>
              </a:rPr>
              <a:t>That is all for Workshop-1.</a:t>
            </a:r>
          </a:p>
        </p:txBody>
      </p:sp>
    </p:spTree>
    <p:extLst>
      <p:ext uri="{BB962C8B-B14F-4D97-AF65-F5344CB8AC3E}">
        <p14:creationId xmlns:p14="http://schemas.microsoft.com/office/powerpoint/2010/main" val="21023374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CCC8A7-C417-0481-814D-7B47C30FCD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Day 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57B692-2B82-6498-622F-67439E8656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Q &amp; A?</a:t>
            </a:r>
          </a:p>
          <a:p>
            <a:r>
              <a:rPr lang="en-US" sz="4400" dirty="0"/>
              <a:t>What’s Next?</a:t>
            </a:r>
          </a:p>
          <a:p>
            <a:r>
              <a:rPr lang="en-US" sz="4400" dirty="0"/>
              <a:t>Go and Innovate!</a:t>
            </a:r>
          </a:p>
          <a:p>
            <a:pPr lvl="1"/>
            <a:r>
              <a:rPr lang="en-US" sz="4000" dirty="0">
                <a:highlight>
                  <a:srgbClr val="FFFF00"/>
                </a:highlight>
              </a:rPr>
              <a:t>Tomorrow’s Innovators start Today!</a:t>
            </a:r>
          </a:p>
        </p:txBody>
      </p:sp>
    </p:spTree>
    <p:extLst>
      <p:ext uri="{BB962C8B-B14F-4D97-AF65-F5344CB8AC3E}">
        <p14:creationId xmlns:p14="http://schemas.microsoft.com/office/powerpoint/2010/main" val="22545033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2123</TotalTime>
  <Words>1436</Words>
  <Application>Microsoft Office PowerPoint</Application>
  <PresentationFormat>Widescreen</PresentationFormat>
  <Paragraphs>119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inherit</vt:lpstr>
      <vt:lpstr>Arial</vt:lpstr>
      <vt:lpstr>Calibri</vt:lpstr>
      <vt:lpstr>Calibri Light</vt:lpstr>
      <vt:lpstr>Open Sans</vt:lpstr>
      <vt:lpstr>Office Theme</vt:lpstr>
      <vt:lpstr>3 Simple Raspberry Pi Sense HAT Projects for Kids and Families</vt:lpstr>
      <vt:lpstr>The Raspberry Pi Sense HAT extension contains 22 blocks:</vt:lpstr>
      <vt:lpstr>Pre-Configuration</vt:lpstr>
      <vt:lpstr>P-01: Scrolling “Hello World” App with Raspberry Pi Sense HAT (step-0 warm-up)</vt:lpstr>
      <vt:lpstr>P-01: Scrolling “Hello World” App with Raspberry Pi Sense HAT</vt:lpstr>
      <vt:lpstr>Scrolling “Hello World” App (cont’d)</vt:lpstr>
      <vt:lpstr>Scrolling “Hello World” App with Raspberry Pi Sense HAT</vt:lpstr>
      <vt:lpstr>PowerPoint Presentation</vt:lpstr>
      <vt:lpstr>P-02: Joystick Input, Temperature Reading with Raspberry Pi Sense HAT</vt:lpstr>
      <vt:lpstr>PowerPoint Presentation</vt:lpstr>
      <vt:lpstr>Side-Note:</vt:lpstr>
      <vt:lpstr>A more complex project. This project will check the temperature</vt:lpstr>
      <vt:lpstr>A more complex project. This project will check the temperature</vt:lpstr>
      <vt:lpstr>PowerPoint Presentation</vt:lpstr>
      <vt:lpstr>PowerPoint Presentation</vt:lpstr>
      <vt:lpstr>Challenge for you, not homework!    Conversion between temperature units (C vs. F)</vt:lpstr>
      <vt:lpstr>PowerPoint Presentation</vt:lpstr>
      <vt:lpstr>PowerPoint Presentation</vt:lpstr>
      <vt:lpstr>Day 4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 Simple Raspberry Pi Sense HAT Projects for Kids and Families</dc:title>
  <dc:creator>Ming-Shan Su</dc:creator>
  <cp:lastModifiedBy>Ming-Shan Su</cp:lastModifiedBy>
  <cp:revision>117</cp:revision>
  <dcterms:created xsi:type="dcterms:W3CDTF">2022-05-10T01:57:45Z</dcterms:created>
  <dcterms:modified xsi:type="dcterms:W3CDTF">2026-04-17T11:47:28Z</dcterms:modified>
</cp:coreProperties>
</file>