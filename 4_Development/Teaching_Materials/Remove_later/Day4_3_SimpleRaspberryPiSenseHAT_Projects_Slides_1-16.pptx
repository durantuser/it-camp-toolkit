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300" r:id="rId6"/>
    <p:sldId id="259" r:id="rId7"/>
    <p:sldId id="261" r:id="rId8"/>
    <p:sldId id="260" r:id="rId9"/>
    <p:sldId id="262" r:id="rId10"/>
    <p:sldId id="301" r:id="rId11"/>
    <p:sldId id="310" r:id="rId12"/>
    <p:sldId id="264" r:id="rId13"/>
    <p:sldId id="303" r:id="rId14"/>
    <p:sldId id="293" r:id="rId15"/>
    <p:sldId id="267" r:id="rId16"/>
    <p:sldId id="268" r:id="rId17"/>
    <p:sldId id="2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4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0D93-FFC7-96F0-2C7A-F138A28B3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E666B-6B92-8D3A-13F6-0646B031B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396C9-CC53-DACF-111B-9C1225FA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228B0-5D63-9762-AEDC-211355C2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9DACE-6BA8-C9F5-DE57-3A29DFC4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94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383E0-D2F7-62CF-4427-B92BB2094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9B83F-F831-2750-79C9-9C0051658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A0CAB-8B24-EE05-40A9-8B9F012F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44636-9D8F-B140-F715-A298028D1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6C23A-6A6E-58E6-FB00-3A5AEA3A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2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811D6-062A-790A-91BF-7C3B609B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F5C38-A3F6-3B7A-BEED-52C18583F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35447-AF58-CBD7-8832-4696FEBD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D60BC-5B7C-033B-CAB8-F85A88C9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6A13E-0665-0041-B312-D42785F7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E7E2-CFD5-6791-C18C-91BE45AAD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A5278-28F3-474A-28F0-14929F63C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51981-BEF2-40F7-0ED3-73B3F887B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1A1FC-6498-8E14-6ED8-E46AF46C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84FC7-00DB-CA0F-D47C-6EDE23F9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0D8AB-8811-8E44-8B36-E487B9F0E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2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2AE4-B176-6D29-8F60-0D991664C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CD6CB-0D3A-CE81-DF60-B36E1B093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03AE9-F6E7-B8C3-1694-782E86600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93B09-1DB5-797E-BDEB-E0A4782BF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7544C1-558C-B887-266C-582EA5417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D03496-651A-8783-BDDC-C6738985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1783D-571D-0252-0518-454A556E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BB911-55DB-B55A-ADEF-142A5706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3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A332-DB07-4F5E-5DBB-702F9F1C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883EE-FA13-3839-396F-A422343F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CF8BA-23B1-CBE1-4A9C-F9649A48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128BE-4EFF-AB19-9253-AE01877B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1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8D882-EFB1-31BB-E2CE-CA43E815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B3B27-CD1F-A8CD-9D82-04B275BCA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8824F-DE12-C23F-D1CE-766A5FB1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7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E0EF-0EE5-A9E4-DE30-8E1DA86F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2DDC8-B5CD-356B-71CF-3ECA6F29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9E66D-4106-B4B4-824F-0DB692B89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127A1-E329-ECC5-A872-ED7301C6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C41EF-5682-A763-C51F-0178A655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5AA24-8625-337E-FF19-C95F4D91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2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49FB-EB62-DAC4-9CED-D61DEF5D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46EFC-B3D3-591F-B15A-FE7CAC646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2AC4D-5E65-DB1F-5B72-B1019CBC7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BD810-E98D-DDD5-05EC-744F5508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01357-8B7E-4073-7C14-2882A96A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678DB-B613-DB2E-F6A9-6AB378B3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7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DD7A-5D95-321B-3C8D-3D6B36DEF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979C3-714F-EC28-71FD-3790411B8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16DF2-E6B0-9FCA-C7EC-EBF0C7F6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F0827-3830-8C6F-62EE-4BCBA56EF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4123D-59A7-D85F-D30E-3F792D38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9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7EC9D7-59D1-4BD6-F348-7558C645D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8F40A-537B-F8F2-B69F-435D9485C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3E47D-A44D-FA40-47F3-E81B7406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255C4-E3E5-AB57-CD44-67276A46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29E6F-F979-6C56-4475-623C856A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4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15E67-0C9A-FD74-E525-4B4900BEE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FC2FE-C75A-AFC4-943A-8400205BB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39946-6AB9-F443-A9FE-D96BA2C23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92DE0-26C8-221C-F897-FB1452588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6B20F-F3F3-8812-A386-B5FC7D62C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9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mshardware.com/how-to/raspberry-pi-sense-hat-projects-for-kids" TargetMode="External"/><Relationship Id="rId2" Type="http://schemas.openxmlformats.org/officeDocument/2006/relationships/hyperlink" Target="https://www.tomshardware.com/author/les-pounde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s://youtu.be/B36czuDW-Sg" TargetMode="External"/><Relationship Id="rId2" Type="http://schemas.openxmlformats.org/officeDocument/2006/relationships/hyperlink" Target="https://trinket.io/sense-ha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youtu.be/rDA1xkpt7wo" TargetMode="Externa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celsius+to+fahrenheit&amp;rlz=1C1GCEU_enUS861US861&amp;oq=celsi&amp;aqs=chrome.0.35i39j69i57j0i131i433i512l2j46i131i199i433i465i512j0i433i512l3j0i131i433l2.3319j0j15&amp;sourceid=chrome&amp;ie=UTF-8" TargetMode="External"/><Relationship Id="rId5" Type="http://schemas.openxmlformats.org/officeDocument/2006/relationships/image" Target="../media/image3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mshardware.com/how-to/raspberry-pi-sense-hat-projects-for-kids" TargetMode="External"/><Relationship Id="rId2" Type="http://schemas.openxmlformats.org/officeDocument/2006/relationships/hyperlink" Target="https://www.tomshardware.com/author/les-pound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6218-3CE0-64BB-BC65-017ED806D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3 Simple Raspberry Pi Sense HAT Projects for Kids and Families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95FD7-5743-BF9A-7B9A-F121C657D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By </a:t>
            </a:r>
            <a:r>
              <a:rPr lang="en-US" b="0" i="0" u="none" strike="noStrike" dirty="0">
                <a:solidFill>
                  <a:srgbClr val="101F9E"/>
                </a:solidFill>
                <a:effectLst/>
                <a:latin typeface="inherit"/>
                <a:hlinkClick r:id="rId2"/>
              </a:rPr>
              <a:t>Les Pounder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published </a:t>
            </a:r>
            <a:r>
              <a:rPr lang="en-US" dirty="0"/>
              <a:t>May 03, 2020</a:t>
            </a:r>
          </a:p>
          <a:p>
            <a:r>
              <a:rPr lang="en-US" dirty="0">
                <a:hlinkClick r:id="rId3"/>
              </a:rPr>
              <a:t>https://www.tomshardware.com/how-to/raspberry-pi-sense-hat-projects-for-kids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D867E-F261-4671-A277-0EF83D25219E}"/>
              </a:ext>
            </a:extLst>
          </p:cNvPr>
          <p:cNvSpPr txBox="1"/>
          <p:nvPr/>
        </p:nvSpPr>
        <p:spPr>
          <a:xfrm>
            <a:off x="4857750" y="5735637"/>
            <a:ext cx="276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Prepared by: Dr. Your-name</a:t>
            </a:r>
          </a:p>
        </p:txBody>
      </p:sp>
    </p:spTree>
    <p:extLst>
      <p:ext uri="{BB962C8B-B14F-4D97-AF65-F5344CB8AC3E}">
        <p14:creationId xmlns:p14="http://schemas.microsoft.com/office/powerpoint/2010/main" val="254950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3FDA-0A01-3834-4E0F-EEF4B6EE0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19" y="138079"/>
            <a:ext cx="7861910" cy="1325563"/>
          </a:xfrm>
        </p:spPr>
        <p:txBody>
          <a:bodyPr/>
          <a:lstStyle/>
          <a:p>
            <a:r>
              <a:rPr lang="en-US" dirty="0"/>
              <a:t>The Raspberry Pi Sense HAT extension contains </a:t>
            </a:r>
            <a:r>
              <a:rPr lang="en-US" dirty="0">
                <a:solidFill>
                  <a:srgbClr val="0000FF"/>
                </a:solidFill>
              </a:rPr>
              <a:t>22 blocks</a:t>
            </a:r>
            <a:r>
              <a:rPr lang="en-US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3FA2DC-413E-2BFB-10AD-9555354B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147" y="800860"/>
            <a:ext cx="3023542" cy="1840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45EC92-1BC7-0F7A-49A4-8C9158063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831" y="3749580"/>
            <a:ext cx="3186174" cy="28760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5B94B1-A2EF-D97F-F97C-6B44BC2DD671}"/>
              </a:ext>
            </a:extLst>
          </p:cNvPr>
          <p:cNvSpPr/>
          <p:nvPr/>
        </p:nvSpPr>
        <p:spPr>
          <a:xfrm>
            <a:off x="156995" y="1972297"/>
            <a:ext cx="7940746" cy="47476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B4F1958F-05FD-4D65-8192-D98CE53B5093}"/>
              </a:ext>
            </a:extLst>
          </p:cNvPr>
          <p:cNvSpPr/>
          <p:nvPr/>
        </p:nvSpPr>
        <p:spPr>
          <a:xfrm rot="6157325">
            <a:off x="6473332" y="1463642"/>
            <a:ext cx="609600" cy="3466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B753FDA-0A01-3834-4E0F-EEF4B6EE009D}"/>
              </a:ext>
            </a:extLst>
          </p:cNvPr>
          <p:cNvSpPr txBox="1">
            <a:spLocks/>
          </p:cNvSpPr>
          <p:nvPr/>
        </p:nvSpPr>
        <p:spPr>
          <a:xfrm>
            <a:off x="8848831" y="236745"/>
            <a:ext cx="2950409" cy="658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00FF"/>
                </a:solidFill>
              </a:rPr>
              <a:t>GPIO: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B753FDA-0A01-3834-4E0F-EEF4B6EE009D}"/>
              </a:ext>
            </a:extLst>
          </p:cNvPr>
          <p:cNvSpPr txBox="1">
            <a:spLocks/>
          </p:cNvSpPr>
          <p:nvPr/>
        </p:nvSpPr>
        <p:spPr>
          <a:xfrm>
            <a:off x="8760525" y="3091406"/>
            <a:ext cx="2950409" cy="658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00FF"/>
                </a:solidFill>
              </a:rPr>
              <a:t>Electronics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83" y="2130330"/>
            <a:ext cx="2035892" cy="3867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2316" y="2164340"/>
            <a:ext cx="2622285" cy="217457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7726" y="4338918"/>
            <a:ext cx="2287741" cy="21604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7141" y="2164340"/>
            <a:ext cx="2103955" cy="433507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71" y="1339985"/>
            <a:ext cx="6236749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7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057-F8B2-0508-9EB9-87A41927E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138401"/>
            <a:ext cx="10515600" cy="1325563"/>
          </a:xfrm>
        </p:spPr>
        <p:txBody>
          <a:bodyPr/>
          <a:lstStyle/>
          <a:p>
            <a:r>
              <a:rPr lang="en-US" b="1" dirty="0"/>
              <a:t>Pre-Configuration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4377D-3F39-EA12-F76F-7F6F218A0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5" y="1338984"/>
            <a:ext cx="9682017" cy="53777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Setting Up the Raspberry Pi Sense HAT and Scratch 3 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Attach the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Sense HAT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Enable </a:t>
            </a:r>
            <a:r>
              <a:rPr lang="it-IT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I2C</a:t>
            </a:r>
            <a:r>
              <a:rPr lang="it-IT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in raspi-config (optinal)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Install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Scratch 3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Install the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Sense HAT Scratch 3 extension</a:t>
            </a:r>
            <a:endParaRPr lang="en-US" b="1" dirty="0">
              <a:solidFill>
                <a:srgbClr val="0000FF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Note: </a:t>
            </a:r>
          </a:p>
          <a:p>
            <a:pPr marL="514350" indent="-514350">
              <a:buAutoNum type="alphaLcPeriod"/>
            </a:pP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You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can only try</a:t>
            </a: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 this project on the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Raspberry Pi </a:t>
            </a: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device</a:t>
            </a:r>
          </a:p>
          <a:p>
            <a:pPr marL="514350" indent="-514350"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emulator</a:t>
            </a:r>
            <a:r>
              <a:rPr lang="en-US" dirty="0">
                <a:solidFill>
                  <a:srgbClr val="0000FF"/>
                </a:solidFill>
              </a:rPr>
              <a:t> </a:t>
            </a:r>
          </a:p>
          <a:p>
            <a:pPr marL="971550" lvl="1" indent="-514350"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One on </a:t>
            </a:r>
            <a:r>
              <a:rPr lang="en-US" dirty="0">
                <a:solidFill>
                  <a:srgbClr val="0000FF"/>
                </a:solidFill>
                <a:hlinkClick r:id="rId2"/>
              </a:rPr>
              <a:t>https://trinket.io/sense-hat</a:t>
            </a:r>
            <a:r>
              <a:rPr lang="en-US" dirty="0">
                <a:solidFill>
                  <a:srgbClr val="0000FF"/>
                </a:solidFill>
              </a:rPr>
              <a:t> works </a:t>
            </a:r>
            <a:r>
              <a:rPr lang="en-US" dirty="0">
                <a:solidFill>
                  <a:srgbClr val="C00000"/>
                </a:solidFill>
              </a:rPr>
              <a:t>only with Python</a:t>
            </a:r>
            <a:r>
              <a:rPr lang="en-US" dirty="0">
                <a:solidFill>
                  <a:srgbClr val="0000FF"/>
                </a:solidFill>
              </a:rPr>
              <a:t>, not Scratch</a:t>
            </a:r>
          </a:p>
          <a:p>
            <a:pPr marL="971550" lvl="1" indent="-514350"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Another, </a:t>
            </a:r>
            <a:r>
              <a:rPr lang="en-US" dirty="0">
                <a:solidFill>
                  <a:srgbClr val="FF0000"/>
                </a:solidFill>
              </a:rPr>
              <a:t>Scratch</a:t>
            </a:r>
            <a:r>
              <a:rPr lang="en-US" dirty="0">
                <a:solidFill>
                  <a:srgbClr val="0000FF"/>
                </a:solidFill>
              </a:rPr>
              <a:t> first and add </a:t>
            </a:r>
            <a:r>
              <a:rPr lang="en-US" dirty="0" err="1">
                <a:solidFill>
                  <a:srgbClr val="0000FF"/>
                </a:solidFill>
              </a:rPr>
              <a:t>SenseHat</a:t>
            </a:r>
            <a:r>
              <a:rPr lang="en-US" dirty="0">
                <a:solidFill>
                  <a:srgbClr val="0000FF"/>
                </a:solidFill>
              </a:rPr>
              <a:t>, then Emulator will pop up.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5F59E-ED64-8FA8-3C59-4DDD09FB2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307" y="3365905"/>
            <a:ext cx="1932067" cy="217151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F85115-D837-FF5B-A9F4-934302F48DA0}"/>
              </a:ext>
            </a:extLst>
          </p:cNvPr>
          <p:cNvCxnSpPr>
            <a:cxnSpLocks/>
          </p:cNvCxnSpPr>
          <p:nvPr/>
        </p:nvCxnSpPr>
        <p:spPr>
          <a:xfrm flipV="1">
            <a:off x="7136998" y="3277168"/>
            <a:ext cx="735415" cy="1210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2568906-85B0-3997-C375-21224B573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165" y="1692984"/>
            <a:ext cx="2939874" cy="165481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8A375D-3294-58DE-20F8-9879339466FD}"/>
              </a:ext>
            </a:extLst>
          </p:cNvPr>
          <p:cNvCxnSpPr/>
          <p:nvPr/>
        </p:nvCxnSpPr>
        <p:spPr>
          <a:xfrm flipV="1">
            <a:off x="2706255" y="4402269"/>
            <a:ext cx="6877016" cy="1369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7CF4352-9632-4141-83E8-F89F493D6CC1}"/>
              </a:ext>
            </a:extLst>
          </p:cNvPr>
          <p:cNvSpPr/>
          <p:nvPr/>
        </p:nvSpPr>
        <p:spPr>
          <a:xfrm>
            <a:off x="4633993" y="105987"/>
            <a:ext cx="67821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  <a:latin typeface="Calibri" panose="020F0502020204030204" pitchFamily="34" charset="0"/>
                <a:ea typeface="PMingLiU" panose="02020500000000000000"/>
                <a:cs typeface="Times New Roman" panose="02020603050405020304" pitchFamily="18" charset="0"/>
              </a:rPr>
              <a:t>Hands-on physical computing projects</a:t>
            </a:r>
            <a:r>
              <a:rPr lang="en-US" sz="3600" dirty="0">
                <a:solidFill>
                  <a:srgbClr val="0000FF"/>
                </a:solidFill>
                <a:latin typeface="Calibri" panose="020F0502020204030204" pitchFamily="34" charset="0"/>
                <a:ea typeface="PMingLiU" panose="02020500000000000000"/>
                <a:cs typeface="Times New Roman" panose="02020603050405020304" pitchFamily="18" charset="0"/>
              </a:rPr>
              <a:t> </a:t>
            </a:r>
            <a:endParaRPr lang="en-US" sz="3600" dirty="0">
              <a:solidFill>
                <a:srgbClr val="0000FF"/>
              </a:solidFill>
            </a:endParaRP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4148051" y="720671"/>
            <a:ext cx="2844911" cy="37665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917006" y="6329055"/>
            <a:ext cx="33188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hlinkClick r:id="rId5"/>
              </a:rPr>
              <a:t>https://youtu.be/rDA1xkpt7wo</a:t>
            </a:r>
            <a:r>
              <a:rPr lang="en-US" sz="1600" dirty="0"/>
              <a:t> [2:51]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6538" y="5563649"/>
            <a:ext cx="2047834" cy="118836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539130" y="6300458"/>
            <a:ext cx="4139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7"/>
              </a:rPr>
              <a:t>https://youtu.be/B36czuDW-Sg</a:t>
            </a:r>
            <a:r>
              <a:rPr lang="en-US" dirty="0"/>
              <a:t> [2:23, my]</a:t>
            </a:r>
          </a:p>
        </p:txBody>
      </p:sp>
    </p:spTree>
    <p:extLst>
      <p:ext uri="{BB962C8B-B14F-4D97-AF65-F5344CB8AC3E}">
        <p14:creationId xmlns:p14="http://schemas.microsoft.com/office/powerpoint/2010/main" val="77951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4C23-B487-6988-0B9F-CE5C3564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4" y="365125"/>
            <a:ext cx="10958946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Open Sans" panose="020B0606030504020204" pitchFamily="34" charset="0"/>
              </a:rPr>
              <a:t>P-01</a:t>
            </a:r>
            <a:r>
              <a:rPr lang="en-US" sz="3200" b="1" dirty="0">
                <a:solidFill>
                  <a:srgbClr val="333333"/>
                </a:solidFill>
                <a:latin typeface="Open Sans" panose="020B0606030504020204" pitchFamily="34" charset="0"/>
              </a:rPr>
              <a:t>: 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sz="32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with Raspberry Pi Sense HAT (step-0 warm-up)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9CB61-B9EB-FE7C-5DCD-664A6EFA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24" y="1613647"/>
            <a:ext cx="9122267" cy="52443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0.a   connect to the same wireless (or wired) network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        ping -4 pi0xx    (e.g. pi002, see the label on the side)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0.b   write down the IP address (e.g., 192.168.0.101)</a:t>
            </a:r>
            <a:endParaRPr lang="en-US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0.c   use </a:t>
            </a: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VNC viewer to have a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monitor-less/Headless login</a:t>
            </a:r>
            <a:endParaRPr lang="en-US" sz="2400" b="1" dirty="0">
              <a:solidFill>
                <a:srgbClr val="0000FF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	user-name: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pi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    password: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raspberry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0.d  click R-Pi-icon -&gt; Programming -&gt; Scratch 3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0.e   run Scratch 3 -&gt; add </a:t>
            </a:r>
            <a:r>
              <a:rPr lang="en-US" sz="2400" b="1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SenseHAT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extension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0.f   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Testing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: Drag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display text Hello!”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first.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0.g: </a:t>
            </a:r>
            <a:r>
              <a:rPr lang="en-US" sz="2400" b="1" dirty="0">
                <a:solidFill>
                  <a:srgbClr val="0000FF"/>
                </a:solidFill>
                <a:latin typeface="Open Sans" panose="020B0606030504020204" pitchFamily="34" charset="0"/>
              </a:rPr>
              <a:t>Cool</a:t>
            </a: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!</a:t>
            </a:r>
            <a:endParaRPr lang="en-US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085" y="1094744"/>
            <a:ext cx="3999035" cy="28676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360" y="5656289"/>
            <a:ext cx="1839278" cy="9535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743" y="5981839"/>
            <a:ext cx="1787369" cy="8761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518" y="4889976"/>
            <a:ext cx="924616" cy="9246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9202" y="4796493"/>
            <a:ext cx="2037835" cy="69319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3112" y="3622775"/>
            <a:ext cx="2146172" cy="16659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0562" y="5465307"/>
            <a:ext cx="862534" cy="1335536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7646134" y="1613647"/>
            <a:ext cx="1228925" cy="16403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6721518" y="3772922"/>
            <a:ext cx="1121594" cy="6253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239435" y="5076354"/>
            <a:ext cx="482083" cy="667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94965" y="5576047"/>
            <a:ext cx="242047" cy="3517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6373" y="5927786"/>
            <a:ext cx="2247900" cy="90487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5588" y="5725510"/>
            <a:ext cx="1917887" cy="71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9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4C23-B487-6988-0B9F-CE5C3564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4" y="365125"/>
            <a:ext cx="10958946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FF"/>
                </a:solidFill>
                <a:latin typeface="Open Sans" panose="020B0606030504020204" pitchFamily="34" charset="0"/>
              </a:rPr>
              <a:t>P-01</a:t>
            </a:r>
            <a:r>
              <a:rPr lang="en-US" sz="4000" b="1" dirty="0">
                <a:solidFill>
                  <a:srgbClr val="333333"/>
                </a:solidFill>
                <a:latin typeface="Open Sans" panose="020B0606030504020204" pitchFamily="34" charset="0"/>
              </a:rPr>
              <a:t>: </a:t>
            </a:r>
            <a:r>
              <a:rPr lang="en-US" sz="4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sz="40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sz="4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with Raspberry Pi Sense HAT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9CB61-B9EB-FE7C-5DCD-664A6EFA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4" y="1779444"/>
            <a:ext cx="8924637" cy="507855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When Green Flag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is clicked”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from the </a:t>
            </a:r>
            <a:r>
              <a:rPr lang="en-US" sz="240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Events section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into the coding area.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What is your Name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from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“Sensing”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connect it under the previous block.</a:t>
            </a:r>
            <a:endParaRPr lang="en-US" sz="2400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Connect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Display Text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from the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Sense HAT section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to the “what is your name” block.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Test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We want to 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say hello to the user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but we also want to call them 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by their name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Find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join apple banana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under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Operators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and drag it over to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replace the word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hello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 display text.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E1C79D-91A7-1D08-9D88-B2410245E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593" y="4487950"/>
            <a:ext cx="2958407" cy="22007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235" y="3155295"/>
            <a:ext cx="1594858" cy="7817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3593" y="1146918"/>
            <a:ext cx="2857500" cy="18764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2904" y="911960"/>
            <a:ext cx="814948" cy="778728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1990165" y="1690688"/>
            <a:ext cx="7395882" cy="2917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363200" y="5809129"/>
            <a:ext cx="1828800" cy="74407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9807388" y="1425388"/>
            <a:ext cx="1405516" cy="5289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2"/>
          </p:cNvCxnSpPr>
          <p:nvPr/>
        </p:nvCxnSpPr>
        <p:spPr>
          <a:xfrm flipH="1">
            <a:off x="11277600" y="1690688"/>
            <a:ext cx="342778" cy="7925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29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0A96-9C27-EB3D-D1AE-C7D7EBF9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35" y="152255"/>
            <a:ext cx="11068665" cy="1325563"/>
          </a:xfrm>
        </p:spPr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(cont’d)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48AEE-6E73-C2C8-0931-9B2FC7CC7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477818"/>
            <a:ext cx="8891193" cy="522778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Change “apple” to “Hell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o "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(the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space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after </a:t>
            </a:r>
            <a:r>
              <a:rPr lang="en-US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Hello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is important!).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answer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from </a:t>
            </a:r>
            <a:r>
              <a:rPr lang="en-US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Sensing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and 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drop it on top of the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banana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section of the join block.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By doing this the answer to the question “What’s your name?” is saved as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a variable 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called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answer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which is then used to greet the user by their name.</a:t>
            </a:r>
            <a:endParaRPr lang="en-US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514350" indent="-514350" algn="l" fontAlgn="base">
              <a:buFont typeface="+mj-lt"/>
              <a:buAutoNum type="arabicPeriod" startAt="5"/>
            </a:pP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Click on the </a:t>
            </a:r>
            <a:r>
              <a:rPr lang="en-US" b="1" i="0" dirty="0">
                <a:solidFill>
                  <a:srgbClr val="00B050"/>
                </a:solidFill>
                <a:effectLst/>
                <a:latin typeface="inherit"/>
              </a:rPr>
              <a:t>Green Flag </a:t>
            </a: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icon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just above the stage and the sprite will ask your name.</a:t>
            </a:r>
          </a:p>
          <a:p>
            <a:pPr marL="514350" indent="-514350" algn="l" fontAlgn="base">
              <a:buFont typeface="+mj-lt"/>
              <a:buAutoNum type="arabicPeriod" startAt="5"/>
            </a:pPr>
            <a:r>
              <a:rPr lang="en-US" b="1" i="0" dirty="0">
                <a:solidFill>
                  <a:srgbClr val="00B050"/>
                </a:solidFill>
                <a:effectLst/>
                <a:latin typeface="inherit"/>
              </a:rPr>
              <a:t>Enter your name</a:t>
            </a: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watch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as your </a:t>
            </a:r>
            <a:r>
              <a:rPr lang="en-US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Sense HAT greets 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you by name. </a:t>
            </a:r>
          </a:p>
          <a:p>
            <a:pPr marL="514350" indent="-514350">
              <a:buFont typeface="+mj-lt"/>
              <a:buAutoNum type="arabicPeriod" startAt="5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6C72F-2416-96C4-35ED-E238ED034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55" y="217977"/>
            <a:ext cx="3780770" cy="2032164"/>
          </a:xfrm>
          <a:prstGeom prst="rect">
            <a:avLst/>
          </a:prstGeom>
        </p:spPr>
      </p:pic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ED61D61A-9DF2-F2F6-9507-735D1A322CFF}"/>
              </a:ext>
            </a:extLst>
          </p:cNvPr>
          <p:cNvSpPr/>
          <p:nvPr/>
        </p:nvSpPr>
        <p:spPr>
          <a:xfrm rot="417808" flipH="1">
            <a:off x="4102926" y="1831501"/>
            <a:ext cx="1437399" cy="40363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BEEB4C-A837-8A38-EA40-28EAF022D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328" y="3932933"/>
            <a:ext cx="3017698" cy="2487315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 rot="11128314">
            <a:off x="10716781" y="1823650"/>
            <a:ext cx="166055" cy="670768"/>
          </a:xfrm>
          <a:prstGeom prst="downArrow">
            <a:avLst>
              <a:gd name="adj1" fmla="val 82041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365812" y="842682"/>
            <a:ext cx="3998259" cy="34334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810000" y="5602941"/>
            <a:ext cx="5548116" cy="5109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83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2D1E-BA67-A108-903E-8A28793E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with Raspberry Pi Sense HAT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2E5CE-8347-F922-7672-91C08B0A5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4" y="1889557"/>
            <a:ext cx="5161088" cy="2774085"/>
          </a:xfrm>
          <a:prstGeom prst="rect">
            <a:avLst/>
          </a:prstGeom>
        </p:spPr>
      </p:pic>
      <p:sp>
        <p:nvSpPr>
          <p:cNvPr id="6" name="AutoShape 2" descr="Raspberry Pi Sense HAT Projects">
            <a:extLst>
              <a:ext uri="{FF2B5EF4-FFF2-40B4-BE49-F238E27FC236}">
                <a16:creationId xmlns:a16="http://schemas.microsoft.com/office/drawing/2014/main" id="{FEDD271A-D86F-00E6-39CA-B1CD5AABAC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5ED11D-15F8-E8BB-88BA-8471BF829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864" y="1314089"/>
            <a:ext cx="5501562" cy="45346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5129" y="5271201"/>
            <a:ext cx="34065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Done Project-01.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Fun and Interesting!</a:t>
            </a:r>
          </a:p>
        </p:txBody>
      </p:sp>
    </p:spTree>
    <p:extLst>
      <p:ext uri="{BB962C8B-B14F-4D97-AF65-F5344CB8AC3E}">
        <p14:creationId xmlns:p14="http://schemas.microsoft.com/office/powerpoint/2010/main" val="1413016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E672C-58C3-B842-E29C-4AD1A98D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7737"/>
            <a:ext cx="10515600" cy="5229226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Done Project-01.</a:t>
            </a:r>
          </a:p>
          <a:p>
            <a:r>
              <a:rPr lang="en-US" dirty="0">
                <a:solidFill>
                  <a:srgbClr val="0000FF"/>
                </a:solidFill>
              </a:rPr>
              <a:t>Fun and Interesting!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Let’s Try More …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Temperature sensor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96764AA-EF2F-4F63-857D-50270C672051}"/>
              </a:ext>
            </a:extLst>
          </p:cNvPr>
          <p:cNvSpPr/>
          <p:nvPr/>
        </p:nvSpPr>
        <p:spPr>
          <a:xfrm rot="820683">
            <a:off x="3847744" y="2893345"/>
            <a:ext cx="1338230" cy="2667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530" y="947737"/>
            <a:ext cx="2824882" cy="582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76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962F-DAB2-7077-618A-A4DAD50B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52" y="163811"/>
            <a:ext cx="11043591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P-02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: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Joystick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Input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Temperature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Reading with Raspberry Pi Sense HAT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CBC8-DDD7-2D14-215D-0033FA4A4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209" y="1612521"/>
            <a:ext cx="9121906" cy="512078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test project uses the </a:t>
            </a:r>
            <a:r>
              <a:rPr lang="en-US" sz="2400" dirty="0">
                <a:solidFill>
                  <a:srgbClr val="0000FF"/>
                </a:solidFill>
              </a:rPr>
              <a:t>“</a:t>
            </a:r>
            <a:r>
              <a:rPr lang="en-US" sz="2400" dirty="0">
                <a:solidFill>
                  <a:srgbClr val="00B050"/>
                </a:solidFill>
              </a:rPr>
              <a:t>When joystick pushed up</a:t>
            </a:r>
            <a:r>
              <a:rPr lang="en-US" sz="2400" dirty="0">
                <a:solidFill>
                  <a:srgbClr val="0000FF"/>
                </a:solidFill>
              </a:rPr>
              <a:t>” </a:t>
            </a:r>
            <a:r>
              <a:rPr lang="en-US" sz="2400" dirty="0"/>
              <a:t>block found in the </a:t>
            </a:r>
            <a:r>
              <a:rPr lang="en-US" sz="2400" dirty="0">
                <a:solidFill>
                  <a:srgbClr val="00B050"/>
                </a:solidFill>
              </a:rPr>
              <a:t>“Sense HAT” </a:t>
            </a:r>
            <a:r>
              <a:rPr lang="en-US" sz="2400" dirty="0"/>
              <a:t>section.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When joystick pushed up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from the “Sense HAT” section into the coding area then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change the direction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to push the joystick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from up to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centre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Add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set color to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also from the “Sense HAT” section. Then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change the 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color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to something interesting (e.g.,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Red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Connect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Display...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to the previous block. The default image is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some pixel art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of the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Pi logo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test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by </a:t>
            </a:r>
            <a:r>
              <a:rPr lang="en-US" sz="2400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pressing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the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joystick 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centre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1AD74-49FD-6839-34BB-7FF31A71A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661" y="4909523"/>
            <a:ext cx="2939874" cy="1654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1ABA3A-9CC6-9578-FAF6-44E874E20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351" y="1858124"/>
            <a:ext cx="2820380" cy="18772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B72990-A601-74CE-B71B-D7613FBA7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3192" y="3876583"/>
            <a:ext cx="1538864" cy="68050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37565E6-0E27-43AD-A0C7-32CDC1DBF528}"/>
              </a:ext>
            </a:extLst>
          </p:cNvPr>
          <p:cNvSpPr/>
          <p:nvPr/>
        </p:nvSpPr>
        <p:spPr>
          <a:xfrm>
            <a:off x="11297711" y="1930886"/>
            <a:ext cx="784225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7533742" y="2456330"/>
            <a:ext cx="3636282" cy="6975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2286000" y="2913530"/>
            <a:ext cx="8498541" cy="13640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711" y="2838180"/>
            <a:ext cx="860023" cy="11238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386" y="5417884"/>
            <a:ext cx="1208366" cy="1246259"/>
          </a:xfrm>
          <a:prstGeom prst="rect">
            <a:avLst/>
          </a:prstGeom>
        </p:spPr>
      </p:pic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7330698" y="5245479"/>
            <a:ext cx="2144996" cy="3070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742" y="5859494"/>
            <a:ext cx="1678901" cy="7345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8312" y="885111"/>
            <a:ext cx="2596167" cy="78390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480699-3E9C-C7DC-0B9D-48D7715B93D2}"/>
              </a:ext>
            </a:extLst>
          </p:cNvPr>
          <p:cNvCxnSpPr/>
          <p:nvPr/>
        </p:nvCxnSpPr>
        <p:spPr>
          <a:xfrm>
            <a:off x="8052820" y="1440329"/>
            <a:ext cx="3297223" cy="7901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4169044" y="2913530"/>
            <a:ext cx="5263071" cy="790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720353" y="3384906"/>
            <a:ext cx="5777417" cy="1394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D1D9B2-E7AC-51AA-DBEA-D3FCE4BA4BB9}"/>
              </a:ext>
            </a:extLst>
          </p:cNvPr>
          <p:cNvCxnSpPr/>
          <p:nvPr/>
        </p:nvCxnSpPr>
        <p:spPr>
          <a:xfrm>
            <a:off x="5441576" y="5790328"/>
            <a:ext cx="5459506" cy="4045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1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18" y="493058"/>
            <a:ext cx="8850966" cy="6239435"/>
          </a:xfrm>
        </p:spPr>
        <p:txBody>
          <a:bodyPr>
            <a:normAutofit/>
          </a:bodyPr>
          <a:lstStyle/>
          <a:p>
            <a:r>
              <a:rPr lang="en-US" dirty="0"/>
              <a:t>A more </a:t>
            </a:r>
            <a:r>
              <a:rPr lang="en-US" b="1" dirty="0">
                <a:solidFill>
                  <a:srgbClr val="0000FF"/>
                </a:solidFill>
              </a:rPr>
              <a:t>complex</a:t>
            </a:r>
            <a:r>
              <a:rPr lang="en-US" dirty="0">
                <a:solidFill>
                  <a:srgbClr val="0000FF"/>
                </a:solidFill>
              </a:rPr>
              <a:t> project</a:t>
            </a:r>
            <a:r>
              <a:rPr lang="en-US" dirty="0"/>
              <a:t>. This project will check the </a:t>
            </a:r>
            <a:r>
              <a:rPr lang="en-US" b="1" dirty="0">
                <a:solidFill>
                  <a:srgbClr val="0000FF"/>
                </a:solidFill>
              </a:rPr>
              <a:t>temperature</a:t>
            </a:r>
          </a:p>
          <a:p>
            <a:r>
              <a:rPr lang="en-US" b="1" dirty="0">
                <a:solidFill>
                  <a:srgbClr val="0000FF"/>
                </a:solidFill>
              </a:rPr>
              <a:t>Click the temperature block (i.e., report-block) to have reading</a:t>
            </a:r>
          </a:p>
          <a:p>
            <a:r>
              <a:rPr lang="en-US" b="1" dirty="0">
                <a:solidFill>
                  <a:srgbClr val="FF0000"/>
                </a:solidFill>
                <a:latin typeface="Open Sans" panose="020B0606030504020204" pitchFamily="34" charset="0"/>
              </a:rPr>
              <a:t>Why only 39.94?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Open Sans" panose="020B0606030504020204" pitchFamily="34" charset="0"/>
              </a:rPr>
              <a:t>Sensor Problem/Mal-function? Or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Open Sans" panose="020B0606030504020204" pitchFamily="34" charset="0"/>
              </a:rPr>
              <a:t>Locality/Region/Country Issue?</a:t>
            </a:r>
          </a:p>
          <a:p>
            <a:r>
              <a:rPr lang="en-US" b="1" dirty="0"/>
              <a:t>Observation</a:t>
            </a:r>
            <a:r>
              <a:rPr lang="en-US" dirty="0"/>
              <a:t>:</a:t>
            </a:r>
          </a:p>
          <a:p>
            <a:r>
              <a:rPr lang="en-US" sz="2400" dirty="0"/>
              <a:t>In </a:t>
            </a:r>
            <a:r>
              <a:rPr lang="en-US" sz="2400" dirty="0">
                <a:solidFill>
                  <a:srgbClr val="0000FF"/>
                </a:solidFill>
              </a:rPr>
              <a:t>U.K</a:t>
            </a:r>
            <a:r>
              <a:rPr lang="en-US" sz="2400" dirty="0"/>
              <a:t>, the </a:t>
            </a:r>
            <a:r>
              <a:rPr lang="en-US" sz="2400" dirty="0">
                <a:solidFill>
                  <a:srgbClr val="0000FF"/>
                </a:solidFill>
              </a:rPr>
              <a:t>temperature unit </a:t>
            </a:r>
            <a:r>
              <a:rPr lang="en-US" sz="2400" dirty="0"/>
              <a:t>is based on </a:t>
            </a:r>
            <a:r>
              <a:rPr lang="en-US" sz="2400" dirty="0">
                <a:solidFill>
                  <a:srgbClr val="0000FF"/>
                </a:solidFill>
              </a:rPr>
              <a:t>degree C</a:t>
            </a:r>
            <a:r>
              <a:rPr lang="en-US" sz="2400" dirty="0"/>
              <a:t> (i.e., Celsius)</a:t>
            </a:r>
          </a:p>
          <a:p>
            <a:pPr lvl="1"/>
            <a:r>
              <a:rPr lang="en-US" sz="2000" dirty="0"/>
              <a:t>In addition, made in USA?, no, made in UK</a:t>
            </a:r>
          </a:p>
          <a:p>
            <a:r>
              <a:rPr lang="en-US" sz="2400" dirty="0"/>
              <a:t>In U.S?  </a:t>
            </a:r>
            <a:r>
              <a:rPr lang="en-US" sz="2000" dirty="0">
                <a:solidFill>
                  <a:srgbClr val="0000FF"/>
                </a:solidFill>
              </a:rPr>
              <a:t>degree F</a:t>
            </a:r>
            <a:r>
              <a:rPr lang="en-US" sz="2000" dirty="0"/>
              <a:t> (Fahrenheit)</a:t>
            </a:r>
          </a:p>
          <a:p>
            <a:r>
              <a:rPr lang="en-US" sz="2000" b="1" dirty="0">
                <a:solidFill>
                  <a:srgbClr val="FF0000"/>
                </a:solidFill>
                <a:latin typeface="Open Sans" panose="020B0606030504020204" pitchFamily="34" charset="0"/>
              </a:rPr>
              <a:t>Other examples?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  <a:latin typeface="Open Sans" panose="020B0606030504020204" pitchFamily="34" charset="0"/>
              </a:rPr>
              <a:t>Pound vs. Kilogram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  <a:latin typeface="Open Sans" panose="020B0606030504020204" pitchFamily="34" charset="0"/>
              </a:rPr>
              <a:t>Inch vs. centimeter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  <a:latin typeface="Open Sans" panose="020B0606030504020204" pitchFamily="34" charset="0"/>
              </a:rPr>
              <a:t>Big Deal? Yes, it is.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414" y="1825625"/>
            <a:ext cx="2647721" cy="10329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188" y="3164540"/>
            <a:ext cx="2718947" cy="1515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B5A8F-5E40-4AF3-A570-3C6A2E9F8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726" y="5080680"/>
            <a:ext cx="4869784" cy="1249289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2" name="Right Arrow 1"/>
          <p:cNvSpPr/>
          <p:nvPr/>
        </p:nvSpPr>
        <p:spPr>
          <a:xfrm>
            <a:off x="528918" y="6271780"/>
            <a:ext cx="515389" cy="262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98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en-US" dirty="0"/>
              <a:t>Side-Note:</a:t>
            </a:r>
          </a:p>
        </p:txBody>
      </p:sp>
      <p:sp>
        <p:nvSpPr>
          <p:cNvPr id="4" name="Rectangle 3"/>
          <p:cNvSpPr/>
          <p:nvPr/>
        </p:nvSpPr>
        <p:spPr>
          <a:xfrm>
            <a:off x="4968240" y="681327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8.4.4 </a:t>
            </a:r>
            <a:r>
              <a:rPr lang="en-US" b="1" dirty="0"/>
              <a:t>Robot Missions to Mars</a:t>
            </a:r>
          </a:p>
          <a:p>
            <a:r>
              <a:rPr lang="en-US" b="1" dirty="0">
                <a:solidFill>
                  <a:srgbClr val="0000FF"/>
                </a:solidFill>
              </a:rPr>
              <a:t>NASA designed the $125 million Mars Climate Orbiter </a:t>
            </a:r>
            <a:r>
              <a:rPr lang="en-US" dirty="0"/>
              <a:t>to facilitate communications between Earth and automated probes on the surface of Mars, including the Mars Polar Lander. Ironically, the spacecraft was lost because of a miscommunication between two support teams on Earth.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Lockheed Martin flight operations team in Colorado designed its software to use </a:t>
            </a:r>
            <a:r>
              <a:rPr lang="en-US" b="1" dirty="0">
                <a:solidFill>
                  <a:srgbClr val="FF0000"/>
                </a:solidFill>
              </a:rPr>
              <a:t>English units</a:t>
            </a:r>
            <a:r>
              <a:rPr lang="en-US" dirty="0"/>
              <a:t>. Its program output thrust in terms of </a:t>
            </a:r>
            <a:r>
              <a:rPr lang="en-US" b="1" dirty="0"/>
              <a:t>foot-pounds</a:t>
            </a:r>
            <a:r>
              <a:rPr lang="en-US" dirty="0"/>
              <a:t>. The </a:t>
            </a:r>
            <a:r>
              <a:rPr lang="en-US" dirty="0">
                <a:solidFill>
                  <a:srgbClr val="0000FF"/>
                </a:solidFill>
              </a:rPr>
              <a:t>navigation team at the Jet Propulsion Laboratory in California designed its software to use </a:t>
            </a:r>
            <a:r>
              <a:rPr lang="en-US" b="1" dirty="0">
                <a:solidFill>
                  <a:srgbClr val="FF0000"/>
                </a:solidFill>
              </a:rPr>
              <a:t>metric units</a:t>
            </a:r>
            <a:r>
              <a:rPr lang="en-US" dirty="0"/>
              <a:t>. Its program expected thrust to be input in terms of </a:t>
            </a:r>
            <a:r>
              <a:rPr lang="en-US" dirty="0" err="1"/>
              <a:t>newtons</a:t>
            </a:r>
            <a:r>
              <a:rPr lang="en-US" dirty="0"/>
              <a:t>. One foot-pound equals 4.45 </a:t>
            </a:r>
            <a:r>
              <a:rPr lang="en-US" dirty="0" err="1"/>
              <a:t>newtons</a:t>
            </a:r>
            <a:r>
              <a:rPr lang="en-US" dirty="0"/>
              <a:t>. On September 23, 1999, the Mars Climate Orbiter neared the Red Planet. </a:t>
            </a:r>
          </a:p>
          <a:p>
            <a:endParaRPr lang="en-US" dirty="0"/>
          </a:p>
          <a:p>
            <a:r>
              <a:rPr lang="en-US" dirty="0"/>
              <a:t>When it was time for the spacecraft to </a:t>
            </a:r>
            <a:r>
              <a:rPr lang="en-US" b="1" dirty="0"/>
              <a:t>fire its engine to enter orbit</a:t>
            </a:r>
            <a:r>
              <a:rPr lang="en-US" dirty="0"/>
              <a:t>, the Colorado team supplied thrust information to the California team, which relayed it to the spacecraft. Because of the units mismatch, the </a:t>
            </a:r>
            <a:r>
              <a:rPr lang="en-US" b="1" dirty="0"/>
              <a:t>navigation team specified 4.45 times too much thrust. The </a:t>
            </a:r>
            <a:r>
              <a:rPr lang="en-US" b="1" dirty="0">
                <a:solidFill>
                  <a:srgbClr val="FF0000"/>
                </a:solidFill>
              </a:rPr>
              <a:t>spacecraft flew too close to the surface of Mars and burned up in its atmosphere.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02" y="997528"/>
            <a:ext cx="4212629" cy="51670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6582" y="6164581"/>
            <a:ext cx="1862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Publisher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AE8BF6-7FD7-4884-9264-6D58D6448123}"/>
              </a:ext>
            </a:extLst>
          </p:cNvPr>
          <p:cNvSpPr/>
          <p:nvPr/>
        </p:nvSpPr>
        <p:spPr>
          <a:xfrm>
            <a:off x="6749512" y="798162"/>
            <a:ext cx="1588576" cy="5889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41C272-F520-4C22-AA42-751F1FDE1176}"/>
              </a:ext>
            </a:extLst>
          </p:cNvPr>
          <p:cNvSpPr/>
          <p:nvPr/>
        </p:nvSpPr>
        <p:spPr>
          <a:xfrm>
            <a:off x="7221951" y="2771613"/>
            <a:ext cx="1751567" cy="5889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DB17C2-8E78-4E35-8E73-DCCE04F26673}"/>
              </a:ext>
            </a:extLst>
          </p:cNvPr>
          <p:cNvSpPr/>
          <p:nvPr/>
        </p:nvSpPr>
        <p:spPr>
          <a:xfrm>
            <a:off x="4678680" y="3480013"/>
            <a:ext cx="1751567" cy="5889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8D42C21-20AC-4DF0-8AD7-28C5FC634CA2}"/>
              </a:ext>
            </a:extLst>
          </p:cNvPr>
          <p:cNvSpPr/>
          <p:nvPr/>
        </p:nvSpPr>
        <p:spPr>
          <a:xfrm rot="1166641">
            <a:off x="4599296" y="6308208"/>
            <a:ext cx="368944" cy="3693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C8E261-4B89-4A5B-897D-4836D9060077}"/>
              </a:ext>
            </a:extLst>
          </p:cNvPr>
          <p:cNvSpPr/>
          <p:nvPr/>
        </p:nvSpPr>
        <p:spPr>
          <a:xfrm>
            <a:off x="6096000" y="6483238"/>
            <a:ext cx="1219200" cy="3747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27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24AB-D54E-D1B0-4F80-63F4D1D0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87745"/>
            <a:ext cx="10515600" cy="1325563"/>
          </a:xfrm>
        </p:spPr>
        <p:txBody>
          <a:bodyPr/>
          <a:lstStyle/>
          <a:p>
            <a:r>
              <a:rPr lang="en-US" dirty="0"/>
              <a:t>A more </a:t>
            </a:r>
            <a:r>
              <a:rPr lang="en-US" b="1" dirty="0">
                <a:solidFill>
                  <a:srgbClr val="0000FF"/>
                </a:solidFill>
              </a:rPr>
              <a:t>complex</a:t>
            </a:r>
            <a:r>
              <a:rPr lang="en-US" dirty="0">
                <a:solidFill>
                  <a:srgbClr val="0000FF"/>
                </a:solidFill>
              </a:rPr>
              <a:t> project</a:t>
            </a:r>
            <a:r>
              <a:rPr lang="en-US" dirty="0"/>
              <a:t>. This project will check the </a:t>
            </a:r>
            <a:r>
              <a:rPr lang="en-US" b="1" dirty="0">
                <a:solidFill>
                  <a:srgbClr val="0000FF"/>
                </a:solidFill>
              </a:rPr>
              <a:t>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466B6-ECED-5986-4299-E4B0522A3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03" y="1327355"/>
            <a:ext cx="7976697" cy="54429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Using the </a:t>
            </a:r>
            <a:r>
              <a:rPr lang="en-US" dirty="0">
                <a:solidFill>
                  <a:srgbClr val="0000FF"/>
                </a:solidFill>
              </a:rPr>
              <a:t>onboard temperature sensor </a:t>
            </a:r>
            <a:r>
              <a:rPr lang="en-US" dirty="0"/>
              <a:t>of the Sense HAT. It will save the </a:t>
            </a:r>
            <a:r>
              <a:rPr lang="en-US" dirty="0">
                <a:solidFill>
                  <a:srgbClr val="0000FF"/>
                </a:solidFill>
              </a:rPr>
              <a:t>temperature</a:t>
            </a:r>
            <a:r>
              <a:rPr lang="en-US" dirty="0"/>
              <a:t> to a </a:t>
            </a:r>
            <a:r>
              <a:rPr lang="en-US" b="1" i="1" dirty="0">
                <a:solidFill>
                  <a:srgbClr val="0000FF"/>
                </a:solidFill>
              </a:rPr>
              <a:t>variable</a:t>
            </a:r>
            <a:r>
              <a:rPr lang="en-US" dirty="0"/>
              <a:t>,              , then </a:t>
            </a:r>
            <a:r>
              <a:rPr lang="en-US" dirty="0">
                <a:solidFill>
                  <a:srgbClr val="C00000"/>
                </a:solidFill>
              </a:rPr>
              <a:t>compare</a:t>
            </a:r>
            <a:r>
              <a:rPr lang="en-US" dirty="0"/>
              <a:t> that variable to see if it is </a:t>
            </a:r>
            <a:r>
              <a:rPr lang="en-US" b="1" dirty="0">
                <a:solidFill>
                  <a:srgbClr val="0000FF"/>
                </a:solidFill>
              </a:rPr>
              <a:t>greater</a:t>
            </a:r>
            <a:r>
              <a:rPr lang="en-US" dirty="0"/>
              <a:t> than </a:t>
            </a:r>
            <a:r>
              <a:rPr lang="en-US" dirty="0">
                <a:solidFill>
                  <a:srgbClr val="FF0000"/>
                </a:solidFill>
              </a:rPr>
              <a:t>20 degrees Celsius</a:t>
            </a:r>
            <a:r>
              <a:rPr lang="en-US" dirty="0"/>
              <a:t>. If so, then the </a:t>
            </a:r>
            <a:r>
              <a:rPr lang="en-US" b="1" dirty="0"/>
              <a:t>text scrolling across </a:t>
            </a:r>
            <a:r>
              <a:rPr lang="en-US" dirty="0"/>
              <a:t>the Sense HAT will be in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. If below </a:t>
            </a:r>
            <a:r>
              <a:rPr lang="en-US" dirty="0">
                <a:solidFill>
                  <a:srgbClr val="FF0000"/>
                </a:solidFill>
              </a:rPr>
              <a:t>20C</a:t>
            </a:r>
            <a:r>
              <a:rPr lang="en-US" dirty="0"/>
              <a:t> then it will be </a:t>
            </a:r>
            <a:r>
              <a:rPr lang="en-US" b="1" dirty="0">
                <a:solidFill>
                  <a:srgbClr val="0070C0"/>
                </a:solidFill>
              </a:rPr>
              <a:t>Blue</a:t>
            </a:r>
            <a:r>
              <a:rPr lang="en-US" dirty="0"/>
              <a:t>.</a:t>
            </a:r>
          </a:p>
          <a:p>
            <a:endParaRPr lang="en-US" sz="1200" dirty="0"/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When joystick pushed up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into the coding area.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Add the "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If, then, else” 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block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 and connect it to the previous block.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Drag 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“_ &gt; 50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”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and 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place it inside the </a:t>
            </a:r>
            <a:r>
              <a:rPr lang="en-US" b="1" dirty="0">
                <a:solidFill>
                  <a:srgbClr val="00B050"/>
                </a:solidFill>
                <a:latin typeface="Open Sans" panose="020B0606030504020204" pitchFamily="34" charset="0"/>
              </a:rPr>
              <a:t>blank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 shape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between “if and then,”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Drag the “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temperature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” variable block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and place it over the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first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blank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Open Sans" panose="020B0606030504020204" pitchFamily="34" charset="0"/>
              </a:rPr>
              <a:t>of “_ &gt; 50” 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and then change the </a:t>
            </a:r>
            <a:r>
              <a:rPr lang="en-US" dirty="0">
                <a:solidFill>
                  <a:srgbClr val="00B050"/>
                </a:solidFill>
                <a:latin typeface="Open Sans" panose="020B0606030504020204" pitchFamily="34" charset="0"/>
              </a:rPr>
              <a:t>50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to 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20</a:t>
            </a:r>
            <a:endParaRPr lang="en-US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2A35C-993E-D1EF-4A9F-0D48F0CE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276" y="1635769"/>
            <a:ext cx="1005032" cy="38988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DDEFB4C-E9DB-444F-B2B3-CBEFA94CA8B3}"/>
              </a:ext>
            </a:extLst>
          </p:cNvPr>
          <p:cNvSpPr/>
          <p:nvPr/>
        </p:nvSpPr>
        <p:spPr>
          <a:xfrm>
            <a:off x="11100734" y="87745"/>
            <a:ext cx="784225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2678786"/>
            <a:ext cx="4097991" cy="4067175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3424518" y="3666565"/>
            <a:ext cx="5351929" cy="19543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7055224" y="3720353"/>
            <a:ext cx="3459722" cy="22770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881" y="6233215"/>
            <a:ext cx="2730313" cy="568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6B5A8F-5E40-4AF3-A570-3C6A2E9F8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4807" y="1757980"/>
            <a:ext cx="2908934" cy="74625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11B197A-CF63-4E85-8173-0732A3EBFDEC}"/>
              </a:ext>
            </a:extLst>
          </p:cNvPr>
          <p:cNvSpPr/>
          <p:nvPr/>
        </p:nvSpPr>
        <p:spPr>
          <a:xfrm>
            <a:off x="8864133" y="2947486"/>
            <a:ext cx="1650813" cy="3958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4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24AB-D54E-D1B0-4F80-63F4D1D0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87745"/>
            <a:ext cx="10515600" cy="1325563"/>
          </a:xfrm>
        </p:spPr>
        <p:txBody>
          <a:bodyPr/>
          <a:lstStyle/>
          <a:p>
            <a:r>
              <a:rPr lang="en-US" dirty="0"/>
              <a:t>A more </a:t>
            </a:r>
            <a:r>
              <a:rPr lang="en-US" b="1" dirty="0">
                <a:solidFill>
                  <a:srgbClr val="0000FF"/>
                </a:solidFill>
              </a:rPr>
              <a:t>complex</a:t>
            </a:r>
            <a:r>
              <a:rPr lang="en-US" dirty="0">
                <a:solidFill>
                  <a:srgbClr val="0000FF"/>
                </a:solidFill>
              </a:rPr>
              <a:t> project</a:t>
            </a:r>
            <a:r>
              <a:rPr lang="en-US" dirty="0"/>
              <a:t>. This project will check the </a:t>
            </a:r>
            <a:r>
              <a:rPr lang="en-US" b="1" dirty="0">
                <a:solidFill>
                  <a:srgbClr val="0000FF"/>
                </a:solidFill>
              </a:rPr>
              <a:t>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466B6-ECED-5986-4299-E4B0522A3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04" y="1327355"/>
            <a:ext cx="6494026" cy="5442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5. </a:t>
            </a: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Complete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the rest of the code.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6.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Test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and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Debug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if any.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  * make sure the </a:t>
            </a:r>
            <a:r>
              <a:rPr lang="en-US" b="1" dirty="0">
                <a:solidFill>
                  <a:srgbClr val="00B0F0"/>
                </a:solidFill>
                <a:latin typeface="Open Sans" panose="020B0606030504020204" pitchFamily="34" charset="0"/>
              </a:rPr>
              <a:t>blue-text 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will be displayed too.</a:t>
            </a: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7. Something is not quite right!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Open Sans" panose="020B0606030504020204" pitchFamily="34" charset="0"/>
              </a:rPr>
              <a:t>Why?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Open Sans" panose="020B0606030504020204" pitchFamily="34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Open Sans" panose="020B0606030504020204" pitchFamily="34" charset="0"/>
              </a:rPr>
              <a:t>We are in Your-City, not UK, </a:t>
            </a:r>
            <a:r>
              <a:rPr lang="en-US" sz="3200" b="1" dirty="0">
                <a:solidFill>
                  <a:srgbClr val="FF0000"/>
                </a:solidFill>
                <a:latin typeface="Open Sans" panose="020B0606030504020204" pitchFamily="34" charset="0"/>
              </a:rPr>
              <a:t>so …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DEFB4C-E9DB-444F-B2B3-CBEFA94CA8B3}"/>
              </a:ext>
            </a:extLst>
          </p:cNvPr>
          <p:cNvSpPr/>
          <p:nvPr/>
        </p:nvSpPr>
        <p:spPr>
          <a:xfrm>
            <a:off x="11150506" y="87745"/>
            <a:ext cx="784225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1B197A-CF63-4E85-8173-0732A3EBFDEC}"/>
              </a:ext>
            </a:extLst>
          </p:cNvPr>
          <p:cNvSpPr/>
          <p:nvPr/>
        </p:nvSpPr>
        <p:spPr>
          <a:xfrm>
            <a:off x="10857611" y="90024"/>
            <a:ext cx="1370013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896" y="1038769"/>
            <a:ext cx="5111657" cy="5073218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3626603" y="2779059"/>
            <a:ext cx="5044699" cy="17032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23" y="4860914"/>
            <a:ext cx="2247909" cy="1252566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V="1">
            <a:off x="1479176" y="2372082"/>
            <a:ext cx="8417859" cy="33321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479176" y="4482353"/>
            <a:ext cx="510989" cy="12218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322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4046" y="746312"/>
            <a:ext cx="6539753" cy="5430651"/>
          </a:xfrm>
        </p:spPr>
        <p:txBody>
          <a:bodyPr/>
          <a:lstStyle/>
          <a:p>
            <a:r>
              <a:rPr lang="en-US" dirty="0"/>
              <a:t>Applications in life?</a:t>
            </a:r>
          </a:p>
          <a:p>
            <a:pPr lvl="1"/>
            <a:r>
              <a:rPr lang="en-US" dirty="0"/>
              <a:t>Alarm, Gauge (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/</a:t>
            </a:r>
            <a:r>
              <a:rPr lang="en-US" dirty="0">
                <a:solidFill>
                  <a:srgbClr val="0000FF"/>
                </a:solidFill>
              </a:rPr>
              <a:t>Blue</a:t>
            </a:r>
            <a:r>
              <a:rPr lang="en-US" dirty="0"/>
              <a:t>/</a:t>
            </a:r>
            <a:r>
              <a:rPr lang="en-US" dirty="0">
                <a:solidFill>
                  <a:srgbClr val="00B050"/>
                </a:solidFill>
              </a:rPr>
              <a:t>Green</a:t>
            </a:r>
            <a:r>
              <a:rPr lang="en-US" dirty="0"/>
              <a:t>/?) or</a:t>
            </a:r>
          </a:p>
          <a:p>
            <a:pPr lvl="2"/>
            <a:r>
              <a:rPr lang="en-US" dirty="0"/>
              <a:t>Colored-Coded</a:t>
            </a:r>
          </a:p>
          <a:p>
            <a:pPr lvl="1"/>
            <a:r>
              <a:rPr lang="en-US" dirty="0"/>
              <a:t>Fire? </a:t>
            </a:r>
          </a:p>
          <a:p>
            <a:pPr lvl="2"/>
            <a:r>
              <a:rPr lang="en-US" dirty="0"/>
              <a:t>Sound the Alarm or …</a:t>
            </a:r>
          </a:p>
          <a:p>
            <a:pPr lvl="1"/>
            <a:r>
              <a:rPr lang="en-US" dirty="0"/>
              <a:t>Notification (text, email, …)?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32" y="746312"/>
            <a:ext cx="4569802" cy="432499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11B197A-CF63-4E85-8173-0732A3EBFDEC}"/>
              </a:ext>
            </a:extLst>
          </p:cNvPr>
          <p:cNvSpPr/>
          <p:nvPr/>
        </p:nvSpPr>
        <p:spPr>
          <a:xfrm>
            <a:off x="2868706" y="1398494"/>
            <a:ext cx="618565" cy="7047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35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1C72-6E66-C784-97DA-8D072301D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56" y="352136"/>
            <a:ext cx="11925997" cy="5862927"/>
          </a:xfrm>
        </p:spPr>
        <p:txBody>
          <a:bodyPr>
            <a:normAutofit/>
          </a:bodyPr>
          <a:lstStyle/>
          <a:p>
            <a:r>
              <a:rPr lang="en-US" dirty="0"/>
              <a:t>Author’s original code.                                   I like to keep it simple for beginners.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218258-A01D-B6E2-CC4F-86282D145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59" y="775048"/>
            <a:ext cx="6023893" cy="60026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726" y="775048"/>
            <a:ext cx="4569802" cy="432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98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8143-CB71-4D24-F136-BD4555E1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Challenge for you</a:t>
            </a:r>
            <a:r>
              <a:rPr lang="en-US" sz="4000" dirty="0"/>
              <a:t>, not homework!</a:t>
            </a:r>
            <a:br>
              <a:rPr lang="en-US" sz="4000" dirty="0"/>
            </a:br>
            <a:r>
              <a:rPr lang="en-US" sz="4000" dirty="0"/>
              <a:t>   Conversion between temperature units (C vs. 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8A2DC-2B4B-BEB1-08E1-F2324833E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3600" dirty="0"/>
              <a:t>Formula: degree_C  x 9/5 +32 =&gt; degree_F</a:t>
            </a:r>
          </a:p>
          <a:p>
            <a:pPr lvl="1"/>
            <a:r>
              <a:rPr lang="it-IT" sz="3200" dirty="0"/>
              <a:t>(0°C × 9/5) + 32 = 32°F</a:t>
            </a:r>
          </a:p>
          <a:p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039C6-0511-C428-CBB0-EC419F9D8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54" y="3399682"/>
            <a:ext cx="676275" cy="542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9E8E0A-562F-2EFB-CE74-954C4E49F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92" y="3187042"/>
            <a:ext cx="1599715" cy="2839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E26C1B-C526-B5F1-52E1-1DE614374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0935" y="3623059"/>
            <a:ext cx="1276350" cy="933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6B5A8F-5E40-4AF3-A570-3C6A2E9F8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667" y="2823882"/>
            <a:ext cx="6605340" cy="169452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3C16E8-126A-4EB7-8C94-3CF50F2A00FE}"/>
              </a:ext>
            </a:extLst>
          </p:cNvPr>
          <p:cNvSpPr/>
          <p:nvPr/>
        </p:nvSpPr>
        <p:spPr>
          <a:xfrm>
            <a:off x="5949664" y="46067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>
                <a:hlinkClick r:id="rId6"/>
              </a:rPr>
              <a:t>https://www.google.com/search?q=celsius+to+fahrenheit&amp;rlz=1C1GCEU_enUS861US861&amp;oq=celsi&amp;aqs=chrome.0.35i39j69i57j0i131i433i512l2j46i131i199i433i465i512j0i433i512l3j0i131i433l2.3319j0j15&amp;sourceid=chrome&amp;ie=UTF-8</a:t>
            </a:r>
            <a:r>
              <a:rPr lang="en-US" sz="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3619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65F3-0C3C-DCD1-1F7B-E2F2F725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0ABDE-5446-E7A2-891A-669F46E8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just shared </a:t>
            </a:r>
            <a:r>
              <a:rPr lang="en-US" dirty="0">
                <a:highlight>
                  <a:srgbClr val="FFFF00"/>
                </a:highlight>
              </a:rPr>
              <a:t>partial teaching materials</a:t>
            </a:r>
            <a:r>
              <a:rPr lang="en-US" dirty="0"/>
              <a:t>. Please refer to [1] below to develop more Hands-on projects or activities </a:t>
            </a:r>
            <a:r>
              <a:rPr lang="en-US" dirty="0">
                <a:highlight>
                  <a:srgbClr val="FFFF00"/>
                </a:highlight>
              </a:rPr>
              <a:t>to meet your needs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Reference:</a:t>
            </a:r>
          </a:p>
          <a:p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[1] 3 Simple Raspberry Pi Sense HAT Projects for Kids and Families, By </a:t>
            </a:r>
            <a:r>
              <a:rPr lang="en-US" dirty="0">
                <a:solidFill>
                  <a:srgbClr val="101F9E"/>
                </a:solidFill>
                <a:latin typeface="inherit"/>
                <a:hlinkClick r:id="rId2"/>
              </a:rPr>
              <a:t>Les Pounder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published </a:t>
            </a:r>
            <a:r>
              <a:rPr lang="en-US" dirty="0"/>
              <a:t>May 03, 2020,</a:t>
            </a:r>
          </a:p>
          <a:p>
            <a:pPr lvl="1"/>
            <a:r>
              <a:rPr lang="en-US" dirty="0">
                <a:hlinkClick r:id="rId3"/>
              </a:rPr>
              <a:t>https://www.tomshardware.com/how-to/raspberry-pi-sense-hat-projects-for-kids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30A05FC-1A6F-6302-011F-16C919F02F6B}"/>
              </a:ext>
            </a:extLst>
          </p:cNvPr>
          <p:cNvSpPr/>
          <p:nvPr/>
        </p:nvSpPr>
        <p:spPr>
          <a:xfrm rot="820125">
            <a:off x="256595" y="1740989"/>
            <a:ext cx="488373" cy="522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2117</TotalTime>
  <Words>1371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inherit</vt:lpstr>
      <vt:lpstr>Arial</vt:lpstr>
      <vt:lpstr>Calibri</vt:lpstr>
      <vt:lpstr>Calibri Light</vt:lpstr>
      <vt:lpstr>Open Sans</vt:lpstr>
      <vt:lpstr>Office Theme</vt:lpstr>
      <vt:lpstr>3 Simple Raspberry Pi Sense HAT Projects for Kids and Families</vt:lpstr>
      <vt:lpstr>The Raspberry Pi Sense HAT extension contains 22 blocks:</vt:lpstr>
      <vt:lpstr>Pre-Configuration</vt:lpstr>
      <vt:lpstr>P-01: Scrolling “Hello World” App with Raspberry Pi Sense HAT (step-0 warm-up)</vt:lpstr>
      <vt:lpstr>P-01: Scrolling “Hello World” App with Raspberry Pi Sense HAT</vt:lpstr>
      <vt:lpstr>Scrolling “Hello World” App (cont’d)</vt:lpstr>
      <vt:lpstr>Scrolling “Hello World” App with Raspberry Pi Sense HAT</vt:lpstr>
      <vt:lpstr>PowerPoint Presentation</vt:lpstr>
      <vt:lpstr>P-02: Joystick Input, Temperature Reading with Raspberry Pi Sense HAT</vt:lpstr>
      <vt:lpstr>PowerPoint Presentation</vt:lpstr>
      <vt:lpstr>Side-Note:</vt:lpstr>
      <vt:lpstr>A more complex project. This project will check the temperature</vt:lpstr>
      <vt:lpstr>A more complex project. This project will check the temperature</vt:lpstr>
      <vt:lpstr>PowerPoint Presentation</vt:lpstr>
      <vt:lpstr>PowerPoint Presentation</vt:lpstr>
      <vt:lpstr>Challenge for you, not homework!    Conversion between temperature units (C vs. F)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Simple Raspberry Pi Sense HAT Projects for Kids and Families</dc:title>
  <dc:creator>Ming-Shan Su</dc:creator>
  <cp:lastModifiedBy>Ming-Shan Su</cp:lastModifiedBy>
  <cp:revision>115</cp:revision>
  <dcterms:created xsi:type="dcterms:W3CDTF">2022-05-10T01:57:45Z</dcterms:created>
  <dcterms:modified xsi:type="dcterms:W3CDTF">2026-04-17T11:39:27Z</dcterms:modified>
</cp:coreProperties>
</file>